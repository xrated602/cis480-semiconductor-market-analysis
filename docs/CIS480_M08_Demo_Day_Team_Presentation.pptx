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424" autoAdjust="0"/>
  </p:normalViewPr>
  <p:slideViewPr>
    <p:cSldViewPr snapToGrid="0" snapToObjects="1">
      <p:cViewPr varScale="1">
        <p:scale>
          <a:sx n="80" d="100"/>
          <a:sy n="80" d="100"/>
        </p:scale>
        <p:origin x="167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3683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LUIS | Approx. 35 seconds</a:t>
            </a:r>
          </a:p>
          <a:p>
            <a:r>
              <a:t>Hello, everyone. We are Luis Ramirez, Rey Guirette, and Colen Wilson, and our CIS480 project is a semiconductor market performance and risk analysis. We compared five semiconductor companies—AMD, Broadcom, Intel, NVIDIA, and Taiwan Semiconductor—with SPY, which we use as a broad-market benchmark. Our study covers January 2021 through December 2025. The goal is to show what happened historically, using both return and risk measures. We are not trying to forecast stock prices or recommend investments.</a:t>
            </a:r>
          </a:p>
          <a:p>
            <a:r>
              <a:t>TRANSITION: I'll start with the problem our dashboard is designed to solve.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LUIS | Approx. 50 seconds</a:t>
            </a:r>
          </a:p>
          <a:p>
            <a:r>
              <a:t>Our hypothetical stakeholder is a financial analyst who needs a simple way to compare stock performance and risk using consistent measures. Looking only at the biggest return can hide how much the price moved along the way or how far it fell from a previous high. Our research question is how these five stocks compare with SPY in cumulative return, annualized volatility, and maximum drawdown over the same five-year period. Our minimum viable product, or MVP, includes the saved data, a Python notebook that calculates the metrics, and an interactive Power BI dashboard. We consider the MVP successful when all six securities appear, the calculations can be inspected, and the dashboard results match our saved evidence for the periods tested.</a:t>
            </a:r>
          </a:p>
          <a:p>
            <a:r>
              <a:t>TRANSITION: Rey will explain where the data came from and how we prepared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REY | Approx. 50 seconds</a:t>
            </a:r>
          </a:p>
          <a:p>
            <a:r>
              <a:t>Our project uses historical market-price data retrieved through the yfinance Python library. We saved a copy of the data used for the analysis so the numbers we present can be traced to a specific dataset rather than changing every time someone downloads new data. The five semiconductor stocks are AMD, AVGO, INTC, NVDA, and TSM. SPY is our comparison benchmark, but it's important to remember that SPY represents the broader U.S. stock market, not the semiconductor industry specifically. Our documented dataset covers 1,255 trading dates and 7,530 security-date records. The saved data files let someone inspect the actual input behind our calculations.</a:t>
            </a:r>
          </a:p>
          <a:p>
            <a:r>
              <a:t>TRANSITION: Next, I'll walk through the steps from data to dashboard.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REY | Approx. 55 seconds</a:t>
            </a:r>
          </a:p>
          <a:p>
            <a:r>
              <a:t>The workflow begins with historical prices, which we save as CSV files. We then use Python and Jupyter Notebook to prepare the data and run quality checks, including whether all required tickers and dates are present, whether required prices are missing, and whether there are duplicate ticker-date records. After those checks, the notebook calculates our three KPIs. The resulting files are used in Power BI to build the visuals. Keeping the notebook and CSV outputs in GitHub makes our method inspectable. Luis successfully ran the master notebook from the beginning on his computer and uploaded the executed version. My independent rerun is still a requested check unless I have completed and documented it before presentation. [Before presenting, update this last sentence based on Rey's actual test results.]</a:t>
            </a:r>
          </a:p>
          <a:p>
            <a:r>
              <a:t>TRANSITION: Colen will explain the three measures we calculate.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COLEN | Approx. 60 seconds</a:t>
            </a:r>
          </a:p>
          <a:p>
            <a:r>
              <a:t>We chose three measures because they answer different questions. Cumulative return tells us how much a stock gained or lost from the beginning to the end of the selected period. We calculate it as ending adjusted price divided by beginning adjusted price, minus one. Annualized volatility tells us how much daily returns vary; we calculate the standard deviation of daily returns and scale it by the square root of about 252 trading days. Maximum drawdown tells us the largest percentage decline from a previous high within the selected period. A higher return does not automatically mean a better risk outcome. Looking at all three gives a more balanced view of historical performance.</a:t>
            </a:r>
          </a:p>
          <a:p>
            <a:r>
              <a:t>TRANSITION: Luis will now show how those measures appear in our Power BI dashboard.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LUIS | Approx. 90 seconds, plus time for the live demonstration</a:t>
            </a:r>
          </a:p>
          <a:p>
            <a:r>
              <a:t>[Before presenting: open the PBIX file in Power BI Desktop and confirm it loads. Have the full-period view ready.]</a:t>
            </a:r>
          </a:p>
          <a:p>
            <a:r>
              <a:t>This is our working dashboard. First, I'll show the full 2021 through 2025 date range and the available securities: AMD, AVGO, INTC, NVDA, TSM, and SPY. These visuals compare cumulative return, annualized volatility, and maximum drawdown. I'll select a security to show how the dashboard responds. Next, I'll change the date range to 2024 and show how the KPI values update for that selected period. I didn't want to assume the visuals were correct just because they looked right, so I compared the numbers displayed in Power BI with the saved project calculations. I recorded 36 comparisons—18 for the full period and 18 for 2024—and all matched to two decimal places. That supports the accuracy of the tested views, although it doesn't prove that every possible filter combination works.</a:t>
            </a:r>
          </a:p>
          <a:p>
            <a:r>
              <a:t>[If the live PBIX fails: use the accessible text demo outline and the prepared backup walkthrough, if completed. Do not claim a recording exists unless it has been made.]</a:t>
            </a:r>
          </a:p>
          <a:p>
            <a:r>
              <a:t>TRANSITION: Here are the main findings from our historical comparison.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LUIS | Approx. 65 seconds</a:t>
            </a:r>
          </a:p>
          <a:p>
            <a:r>
              <a:t>This table summarizes the results for the full five-year period. NVIDIA had the highest cumulative return at about 1,326 percent, and Broadcom was next at about 805 percent. Intel was the only stock in our selected group with a negative cumulative return, about minus 18 percent. SPY returned about 98 percent over the same period. But return is only one part of the story. All five semiconductor stocks had higher annualized volatility and deeper maximum drawdowns than SPY. For example, NVIDIA had strong historical growth, but it also had about 52 percent annualized volatility and a maximum drawdown of about 66 percent. Intel had the deepest maximum drawdown, about 71 percent. The takeaway is that historical gains and the risk experienced along the way need to be discussed together.</a:t>
            </a:r>
          </a:p>
          <a:p>
            <a:r>
              <a:t>TRANSITION: Colen will explain how we checked these results and what we still cannot conclude.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COLEN | Approx. 65 seconds</a:t>
            </a:r>
          </a:p>
          <a:p>
            <a:r>
              <a:t>Our validation record separates what we tested from what we still need to confirm. Luis documented 36 Power BI KPI comparisons: six securities times three metrics for the full period, and the same 18 checks for 2024. All matched the saved evidence to two decimal places. The master notebook also ran successfully in Luis's environment, and the uploaded file shows 16 executed code cells with no saved error outputs. These checks are useful, but they do not prove that the data source is perfect or that the project will run identically on every computer. Our results are limited to 2021 through 2025 and to the five stocks we selected. SPY is a broad-market benchmark, not a semiconductor-specific index. We also cannot use this historical analysis to predict future stock prices. Independent teammate testing and public-access checks must be confirmed before we claim they are complete.</a:t>
            </a:r>
          </a:p>
          <a:p>
            <a:r>
              <a:t>TRANSITION: We'll finish with our responsibilities and handoff plan.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TEAM | Approx. 60 seconds total</a:t>
            </a:r>
          </a:p>
          <a:p>
            <a:r>
              <a:t>LUIS: Our final handoff is a GitHub package with the notebook, input and output files, Power BI dashboard, Section 6 report, validation record, risk register, and demo outline. I am coordinating the final package, links, and submission.</a:t>
            </a:r>
          </a:p>
          <a:p>
            <a:r>
              <a:t>REY: My assigned Week 8 review is to independently run the notebook, check the data preparation and setup instructions, and report any issues. [State actual results only if documented.]</a:t>
            </a:r>
          </a:p>
          <a:p>
            <a:r>
              <a:t>COLEN: My assigned Week 8 review is to test the Power BI dashboard independently, check the slicers and KPI behavior, and review the interpretation and documentation. [State actual results only if documented.]</a:t>
            </a:r>
          </a:p>
          <a:p>
            <a:r>
              <a:t>LUIS: Before submission, we still need each person's review evidence, a fixed demo commit or tag, an accessible backup, a security check, and confirmation that the links open while signed out. One team member will submit the shared package in Canvas.</a:t>
            </a:r>
          </a:p>
          <a:p>
            <a:r>
              <a:t>TRANSITION: I'll close with the main takeaway and our sources.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LUIS | Approx. 50 seconds</a:t>
            </a:r>
          </a:p>
          <a:p>
            <a:r>
              <a:t>To wrap up, our project gives a hypothetical analyst one place to compare historical returns and risk for five semiconductor stocks against SPY. The biggest lesson from our findings is that high cumulative returns can come with large swings and significant drawdowns, so we should not judge performance using return alone. Our evidence is available through the GitHub repository, including the executed notebook, KPI files, Week 8 validation record, and Section 6 report. We used historical price data retrieved with yfinance. We also disclose that ChatGPT helped organize presentation wording and documentation; the team is responsible for checking all retained content against our actual project files and tests. Our next step is to finish the independent reviews and freeze the final package. Thank you—we're ready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TEAM | Reference slide; not normally spoken during the timed demo</a:t>
            </a:r>
          </a:p>
          <a:p>
            <a:r>
              <a:t>Proposed assignments: Luis presents slides 1, 2, 6, 7, and 10; Rey presents slides 3 and 4; Colen presents slides 5 and 8. Slide 9 is shared: Luis introduces the handoff, Rey describes his independent notebook review, Colen describes his Power BI review, and Luis closes with outstanding items. This slide is a coordination reference, not evidence that the teammates accepted the assignments. Confirm assignments and rehearse transitions before recording or presenting. Every member should be able to explain the overall research question, the three KPIs, one personal contribution, and one project limitation.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xrated602/CIS480-Semiconductor-Market-Analysis/blob/main/powerbi/CIS480_Semiconductor_Market_Performance_Dashboard.pbix"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xrated602/CIS480-Semiconductor-Market-Analysis"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hyperlink" Target="https://github.com/xrated602/CIS480-Semiconductor-Market-Analysis/blob/main/docs/week08_validation_record.md" TargetMode="External"/><Relationship Id="rId4" Type="http://schemas.openxmlformats.org/officeDocument/2006/relationships/hyperlink" Target="https://github.com/xrated602/CIS480-Semiconductor-Market-Analysis/blob/main/docs/week08_section6_solution_interpretation.md"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502920"/>
          </a:xfrm>
          <a:prstGeom prst="rect">
            <a:avLst/>
          </a:prstGeom>
          <a:noFill/>
        </p:spPr>
        <p:txBody>
          <a:bodyPr wrap="square">
            <a:spAutoFit/>
          </a:bodyPr>
          <a:lstStyle/>
          <a:p>
            <a:pPr>
              <a:spcAft>
                <a:spcPts val="900"/>
              </a:spcAft>
              <a:defRPr sz="2900" b="1">
                <a:solidFill>
                  <a:srgbClr val="13233A"/>
                </a:solidFill>
                <a:latin typeface="Aptos"/>
              </a:defRPr>
            </a:pPr>
            <a:r>
              <a:t>Semiconductor Market Performance &amp; Risk</a:t>
            </a:r>
          </a:p>
        </p:txBody>
      </p:sp>
      <p:sp>
        <p:nvSpPr>
          <p:cNvPr id="4" name="TextBox 3"/>
          <p:cNvSpPr txBox="1"/>
          <p:nvPr/>
        </p:nvSpPr>
        <p:spPr>
          <a:xfrm>
            <a:off x="594360" y="932688"/>
            <a:ext cx="10881360" cy="384048"/>
          </a:xfrm>
          <a:prstGeom prst="rect">
            <a:avLst/>
          </a:prstGeom>
          <a:noFill/>
        </p:spPr>
        <p:txBody>
          <a:bodyPr wrap="square">
            <a:spAutoFit/>
          </a:bodyPr>
          <a:lstStyle/>
          <a:p>
            <a:pPr>
              <a:spcAft>
                <a:spcPts val="900"/>
              </a:spcAft>
              <a:defRPr sz="1400" b="0">
                <a:solidFill>
                  <a:srgbClr val="586979"/>
                </a:solidFill>
                <a:latin typeface="Aptos"/>
              </a:defRPr>
            </a:pPr>
            <a:r>
              <a:t>M08 Demo Day | Historical analysis: January 2021–December 2025</a:t>
            </a:r>
          </a:p>
        </p:txBody>
      </p:sp>
      <p:sp>
        <p:nvSpPr>
          <p:cNvPr id="5" name="Rounded Rectangle 4"/>
          <p:cNvSpPr/>
          <p:nvPr/>
        </p:nvSpPr>
        <p:spPr>
          <a:xfrm>
            <a:off x="9418320" y="6318504"/>
            <a:ext cx="2194560" cy="329184"/>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528048" y="6345936"/>
            <a:ext cx="2011680" cy="256032"/>
          </a:xfrm>
          <a:prstGeom prst="rect">
            <a:avLst/>
          </a:prstGeom>
          <a:noFill/>
        </p:spPr>
        <p:txBody>
          <a:bodyPr wrap="square">
            <a:spAutoFit/>
          </a:bodyPr>
          <a:lstStyle/>
          <a:p>
            <a:pPr>
              <a:spcAft>
                <a:spcPts val="900"/>
              </a:spcAft>
              <a:defRPr sz="1000" b="1">
                <a:solidFill>
                  <a:srgbClr val="225B90"/>
                </a:solidFill>
                <a:latin typeface="Aptos"/>
              </a:defRPr>
            </a:pPr>
            <a:r>
              <a:t>PRESENTER: LUIS</a:t>
            </a:r>
          </a:p>
        </p:txBody>
      </p:sp>
      <p:sp>
        <p:nvSpPr>
          <p:cNvPr id="7" name="TextBox 6"/>
          <p:cNvSpPr txBox="1"/>
          <p:nvPr/>
        </p:nvSpPr>
        <p:spPr>
          <a:xfrm>
            <a:off x="594360" y="6355080"/>
            <a:ext cx="6400800" cy="219456"/>
          </a:xfrm>
          <a:prstGeom prst="rect">
            <a:avLst/>
          </a:prstGeom>
          <a:noFill/>
        </p:spPr>
        <p:txBody>
          <a:bodyPr wrap="square">
            <a:spAutoFit/>
          </a:bodyPr>
          <a:lstStyle/>
          <a:p>
            <a:pPr>
              <a:spcAft>
                <a:spcPts val="900"/>
              </a:spcAft>
              <a:defRPr sz="900" b="0">
                <a:solidFill>
                  <a:srgbClr val="586979"/>
                </a:solidFill>
                <a:latin typeface="Aptos"/>
              </a:defRPr>
            </a:pPr>
            <a:r>
              <a:t>CIS480  •  Semiconductor Market Analysis  •  M08 Demo Day</a:t>
            </a:r>
          </a:p>
        </p:txBody>
      </p:sp>
      <p:sp>
        <p:nvSpPr>
          <p:cNvPr id="8" name="TextBox 7"/>
          <p:cNvSpPr txBox="1"/>
          <p:nvPr/>
        </p:nvSpPr>
        <p:spPr>
          <a:xfrm>
            <a:off x="731520" y="1691640"/>
            <a:ext cx="10698480" cy="1280160"/>
          </a:xfrm>
          <a:prstGeom prst="rect">
            <a:avLst/>
          </a:prstGeom>
          <a:noFill/>
        </p:spPr>
        <p:txBody>
          <a:bodyPr wrap="square">
            <a:spAutoFit/>
          </a:bodyPr>
          <a:lstStyle/>
          <a:p>
            <a:pPr>
              <a:spcAft>
                <a:spcPts val="900"/>
              </a:spcAft>
              <a:defRPr sz="3600" b="1">
                <a:solidFill>
                  <a:srgbClr val="13233A"/>
                </a:solidFill>
                <a:latin typeface="Aptos"/>
              </a:defRPr>
            </a:pPr>
            <a:r>
              <a:t>Five semiconductor stocks compared with SPY</a:t>
            </a:r>
          </a:p>
        </p:txBody>
      </p:sp>
      <p:sp>
        <p:nvSpPr>
          <p:cNvPr id="9" name="TextBox 8"/>
          <p:cNvSpPr txBox="1"/>
          <p:nvPr/>
        </p:nvSpPr>
        <p:spPr>
          <a:xfrm>
            <a:off x="731520" y="3063240"/>
            <a:ext cx="10607040" cy="914400"/>
          </a:xfrm>
          <a:prstGeom prst="rect">
            <a:avLst/>
          </a:prstGeom>
          <a:noFill/>
        </p:spPr>
        <p:txBody>
          <a:bodyPr wrap="square">
            <a:spAutoFit/>
          </a:bodyPr>
          <a:lstStyle/>
          <a:p>
            <a:pPr>
              <a:spcAft>
                <a:spcPts val="900"/>
              </a:spcAft>
              <a:defRPr sz="2300" b="0">
                <a:solidFill>
                  <a:srgbClr val="225B90"/>
                </a:solidFill>
                <a:latin typeface="Aptos"/>
              </a:defRPr>
            </a:pPr>
            <a:r>
              <a:t>AMD  •  AVGO  •  INTC  •  NVDA  •  TSM  |  Benchmark: SPY</a:t>
            </a:r>
          </a:p>
        </p:txBody>
      </p:sp>
      <p:sp>
        <p:nvSpPr>
          <p:cNvPr id="10" name="TextBox 9"/>
          <p:cNvSpPr txBox="1"/>
          <p:nvPr/>
        </p:nvSpPr>
        <p:spPr>
          <a:xfrm>
            <a:off x="731520" y="4114800"/>
            <a:ext cx="9966960" cy="731520"/>
          </a:xfrm>
          <a:prstGeom prst="rect">
            <a:avLst/>
          </a:prstGeom>
          <a:noFill/>
        </p:spPr>
        <p:txBody>
          <a:bodyPr wrap="square">
            <a:spAutoFit/>
          </a:bodyPr>
          <a:lstStyle/>
          <a:p>
            <a:pPr>
              <a:spcAft>
                <a:spcPts val="900"/>
              </a:spcAft>
              <a:defRPr sz="2000" b="0">
                <a:solidFill>
                  <a:srgbClr val="586979"/>
                </a:solidFill>
                <a:latin typeface="Aptos"/>
              </a:defRPr>
            </a:pPr>
            <a:r>
              <a:t>Team: Luis Ramirez · Rey Guirette · Colen Wilson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502920"/>
          </a:xfrm>
          <a:prstGeom prst="rect">
            <a:avLst/>
          </a:prstGeom>
          <a:noFill/>
        </p:spPr>
        <p:txBody>
          <a:bodyPr wrap="square">
            <a:spAutoFit/>
          </a:bodyPr>
          <a:lstStyle/>
          <a:p>
            <a:pPr>
              <a:spcAft>
                <a:spcPts val="900"/>
              </a:spcAft>
              <a:defRPr sz="2900" b="1">
                <a:solidFill>
                  <a:srgbClr val="13233A"/>
                </a:solidFill>
                <a:latin typeface="Aptos"/>
              </a:defRPr>
            </a:pPr>
            <a:r>
              <a:t>Stakeholder need and acceptance criteria</a:t>
            </a:r>
          </a:p>
        </p:txBody>
      </p:sp>
      <p:sp>
        <p:nvSpPr>
          <p:cNvPr id="4" name="Rounded Rectangle 3"/>
          <p:cNvSpPr/>
          <p:nvPr/>
        </p:nvSpPr>
        <p:spPr>
          <a:xfrm>
            <a:off x="9418320" y="6318504"/>
            <a:ext cx="2194560" cy="329184"/>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28048" y="6345936"/>
            <a:ext cx="2011680" cy="256032"/>
          </a:xfrm>
          <a:prstGeom prst="rect">
            <a:avLst/>
          </a:prstGeom>
          <a:noFill/>
        </p:spPr>
        <p:txBody>
          <a:bodyPr wrap="square">
            <a:spAutoFit/>
          </a:bodyPr>
          <a:lstStyle/>
          <a:p>
            <a:pPr>
              <a:spcAft>
                <a:spcPts val="900"/>
              </a:spcAft>
              <a:defRPr sz="1000" b="1">
                <a:solidFill>
                  <a:srgbClr val="225B90"/>
                </a:solidFill>
                <a:latin typeface="Aptos"/>
              </a:defRPr>
            </a:pPr>
            <a:r>
              <a:t>PRESENTER: LUIS</a:t>
            </a:r>
          </a:p>
        </p:txBody>
      </p:sp>
      <p:sp>
        <p:nvSpPr>
          <p:cNvPr id="6" name="TextBox 5"/>
          <p:cNvSpPr txBox="1"/>
          <p:nvPr/>
        </p:nvSpPr>
        <p:spPr>
          <a:xfrm>
            <a:off x="594360" y="6355080"/>
            <a:ext cx="6400800" cy="219456"/>
          </a:xfrm>
          <a:prstGeom prst="rect">
            <a:avLst/>
          </a:prstGeom>
          <a:noFill/>
        </p:spPr>
        <p:txBody>
          <a:bodyPr wrap="square">
            <a:spAutoFit/>
          </a:bodyPr>
          <a:lstStyle/>
          <a:p>
            <a:pPr>
              <a:spcAft>
                <a:spcPts val="900"/>
              </a:spcAft>
              <a:defRPr sz="900" b="0">
                <a:solidFill>
                  <a:srgbClr val="586979"/>
                </a:solidFill>
                <a:latin typeface="Aptos"/>
              </a:defRPr>
            </a:pPr>
            <a:r>
              <a:t>CIS480  •  Semiconductor Market Analysis  •  M08 Demo Day</a:t>
            </a:r>
          </a:p>
        </p:txBody>
      </p:sp>
      <p:sp>
        <p:nvSpPr>
          <p:cNvPr id="7" name="Oval 6"/>
          <p:cNvSpPr/>
          <p:nvPr/>
        </p:nvSpPr>
        <p:spPr>
          <a:xfrm>
            <a:off x="777240" y="1627631"/>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508760"/>
            <a:ext cx="10332719" cy="914400"/>
          </a:xfrm>
          <a:prstGeom prst="rect">
            <a:avLst/>
          </a:prstGeom>
          <a:noFill/>
        </p:spPr>
        <p:txBody>
          <a:bodyPr wrap="square">
            <a:spAutoFit/>
          </a:bodyPr>
          <a:lstStyle/>
          <a:p>
            <a:pPr>
              <a:spcAft>
                <a:spcPts val="900"/>
              </a:spcAft>
              <a:defRPr sz="2000" b="0">
                <a:solidFill>
                  <a:srgbClr val="13233A"/>
                </a:solidFill>
                <a:latin typeface="Aptos"/>
              </a:defRPr>
            </a:pPr>
            <a:r>
              <a:t>Audience: a hypothetical financial analyst comparing historical performance and risk.</a:t>
            </a:r>
          </a:p>
        </p:txBody>
      </p:sp>
      <p:sp>
        <p:nvSpPr>
          <p:cNvPr id="9" name="Oval 8"/>
          <p:cNvSpPr/>
          <p:nvPr/>
        </p:nvSpPr>
        <p:spPr>
          <a:xfrm>
            <a:off x="777240" y="2587752"/>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468880"/>
            <a:ext cx="10332719" cy="914400"/>
          </a:xfrm>
          <a:prstGeom prst="rect">
            <a:avLst/>
          </a:prstGeom>
          <a:noFill/>
        </p:spPr>
        <p:txBody>
          <a:bodyPr wrap="square">
            <a:spAutoFit/>
          </a:bodyPr>
          <a:lstStyle/>
          <a:p>
            <a:pPr>
              <a:spcAft>
                <a:spcPts val="900"/>
              </a:spcAft>
              <a:defRPr sz="2000" b="0">
                <a:solidFill>
                  <a:srgbClr val="13233A"/>
                </a:solidFill>
                <a:latin typeface="Aptos"/>
              </a:defRPr>
            </a:pPr>
            <a:r>
              <a:t>Question: How do five semiconductor stocks compare with SPY on three consistent measures?</a:t>
            </a:r>
          </a:p>
        </p:txBody>
      </p:sp>
      <p:sp>
        <p:nvSpPr>
          <p:cNvPr id="11" name="Oval 10"/>
          <p:cNvSpPr/>
          <p:nvPr/>
        </p:nvSpPr>
        <p:spPr>
          <a:xfrm>
            <a:off x="777240" y="3547872"/>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429000"/>
            <a:ext cx="10332719" cy="914400"/>
          </a:xfrm>
          <a:prstGeom prst="rect">
            <a:avLst/>
          </a:prstGeom>
          <a:noFill/>
        </p:spPr>
        <p:txBody>
          <a:bodyPr wrap="square">
            <a:spAutoFit/>
          </a:bodyPr>
          <a:lstStyle/>
          <a:p>
            <a:pPr>
              <a:spcAft>
                <a:spcPts val="900"/>
              </a:spcAft>
              <a:defRPr sz="2000" b="0">
                <a:solidFill>
                  <a:srgbClr val="13233A"/>
                </a:solidFill>
                <a:latin typeface="Aptos"/>
              </a:defRPr>
            </a:pPr>
            <a:r>
              <a:t>Working MVP: inspectable Python analysis, saved CSV evidence, and interactive Power BI dashboard.</a:t>
            </a:r>
          </a:p>
        </p:txBody>
      </p:sp>
      <p:sp>
        <p:nvSpPr>
          <p:cNvPr id="13" name="Oval 12"/>
          <p:cNvSpPr/>
          <p:nvPr/>
        </p:nvSpPr>
        <p:spPr>
          <a:xfrm>
            <a:off x="777240" y="4507992"/>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4389120"/>
            <a:ext cx="10332719" cy="914400"/>
          </a:xfrm>
          <a:prstGeom prst="rect">
            <a:avLst/>
          </a:prstGeom>
          <a:noFill/>
        </p:spPr>
        <p:txBody>
          <a:bodyPr wrap="square">
            <a:spAutoFit/>
          </a:bodyPr>
          <a:lstStyle/>
          <a:p>
            <a:pPr>
              <a:spcAft>
                <a:spcPts val="900"/>
              </a:spcAft>
              <a:defRPr sz="2000" b="0">
                <a:solidFill>
                  <a:srgbClr val="13233A"/>
                </a:solidFill>
                <a:latin typeface="Aptos"/>
              </a:defRPr>
            </a:pPr>
            <a:r>
              <a:t>Acceptance: all six tickers, reproducible calculations, working filters, and values that match saved evidence.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502920"/>
          </a:xfrm>
          <a:prstGeom prst="rect">
            <a:avLst/>
          </a:prstGeom>
          <a:noFill/>
        </p:spPr>
        <p:txBody>
          <a:bodyPr wrap="square">
            <a:spAutoFit/>
          </a:bodyPr>
          <a:lstStyle/>
          <a:p>
            <a:pPr>
              <a:spcAft>
                <a:spcPts val="900"/>
              </a:spcAft>
              <a:defRPr sz="2900" b="1">
                <a:solidFill>
                  <a:srgbClr val="13233A"/>
                </a:solidFill>
                <a:latin typeface="Aptos"/>
              </a:defRPr>
            </a:pPr>
            <a:r>
              <a:t>Data and project scope</a:t>
            </a:r>
          </a:p>
        </p:txBody>
      </p:sp>
      <p:sp>
        <p:nvSpPr>
          <p:cNvPr id="4" name="Rounded Rectangle 3"/>
          <p:cNvSpPr/>
          <p:nvPr/>
        </p:nvSpPr>
        <p:spPr>
          <a:xfrm>
            <a:off x="9418320" y="6318504"/>
            <a:ext cx="2194560" cy="329184"/>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28048" y="6345936"/>
            <a:ext cx="2011680" cy="256032"/>
          </a:xfrm>
          <a:prstGeom prst="rect">
            <a:avLst/>
          </a:prstGeom>
          <a:noFill/>
        </p:spPr>
        <p:txBody>
          <a:bodyPr wrap="square">
            <a:spAutoFit/>
          </a:bodyPr>
          <a:lstStyle/>
          <a:p>
            <a:pPr>
              <a:spcAft>
                <a:spcPts val="900"/>
              </a:spcAft>
              <a:defRPr sz="1000" b="1">
                <a:solidFill>
                  <a:srgbClr val="225B90"/>
                </a:solidFill>
                <a:latin typeface="Aptos"/>
              </a:defRPr>
            </a:pPr>
            <a:r>
              <a:t>PRESENTER: REY</a:t>
            </a:r>
          </a:p>
        </p:txBody>
      </p:sp>
      <p:sp>
        <p:nvSpPr>
          <p:cNvPr id="6" name="TextBox 5"/>
          <p:cNvSpPr txBox="1"/>
          <p:nvPr/>
        </p:nvSpPr>
        <p:spPr>
          <a:xfrm>
            <a:off x="594360" y="6355080"/>
            <a:ext cx="6400800" cy="219456"/>
          </a:xfrm>
          <a:prstGeom prst="rect">
            <a:avLst/>
          </a:prstGeom>
          <a:noFill/>
        </p:spPr>
        <p:txBody>
          <a:bodyPr wrap="square">
            <a:spAutoFit/>
          </a:bodyPr>
          <a:lstStyle/>
          <a:p>
            <a:pPr>
              <a:spcAft>
                <a:spcPts val="900"/>
              </a:spcAft>
              <a:defRPr sz="900" b="0">
                <a:solidFill>
                  <a:srgbClr val="586979"/>
                </a:solidFill>
                <a:latin typeface="Aptos"/>
              </a:defRPr>
            </a:pPr>
            <a:r>
              <a:t>CIS480  •  Semiconductor Market Analysis  •  M08 Demo Day</a:t>
            </a:r>
          </a:p>
        </p:txBody>
      </p:sp>
      <p:sp>
        <p:nvSpPr>
          <p:cNvPr id="7" name="Oval 6"/>
          <p:cNvSpPr/>
          <p:nvPr/>
        </p:nvSpPr>
        <p:spPr>
          <a:xfrm>
            <a:off x="777240" y="1627631"/>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508760"/>
            <a:ext cx="10332719" cy="795528"/>
          </a:xfrm>
          <a:prstGeom prst="rect">
            <a:avLst/>
          </a:prstGeom>
          <a:noFill/>
        </p:spPr>
        <p:txBody>
          <a:bodyPr wrap="square">
            <a:spAutoFit/>
          </a:bodyPr>
          <a:lstStyle/>
          <a:p>
            <a:pPr>
              <a:spcAft>
                <a:spcPts val="900"/>
              </a:spcAft>
              <a:defRPr sz="1900" b="0">
                <a:solidFill>
                  <a:srgbClr val="13233A"/>
                </a:solidFill>
                <a:latin typeface="Aptos"/>
              </a:defRPr>
            </a:pPr>
            <a:r>
              <a:t>Source: historical adjusted-price market data retrieved with yfinance.</a:t>
            </a:r>
          </a:p>
        </p:txBody>
      </p:sp>
      <p:sp>
        <p:nvSpPr>
          <p:cNvPr id="9" name="Oval 8"/>
          <p:cNvSpPr/>
          <p:nvPr/>
        </p:nvSpPr>
        <p:spPr>
          <a:xfrm>
            <a:off x="777240" y="2468879"/>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350008"/>
            <a:ext cx="10332719" cy="795528"/>
          </a:xfrm>
          <a:prstGeom prst="rect">
            <a:avLst/>
          </a:prstGeom>
          <a:noFill/>
        </p:spPr>
        <p:txBody>
          <a:bodyPr wrap="square">
            <a:spAutoFit/>
          </a:bodyPr>
          <a:lstStyle/>
          <a:p>
            <a:pPr>
              <a:spcAft>
                <a:spcPts val="900"/>
              </a:spcAft>
              <a:defRPr sz="1900" b="0">
                <a:solidFill>
                  <a:srgbClr val="13233A"/>
                </a:solidFill>
                <a:latin typeface="Aptos"/>
              </a:defRPr>
            </a:pPr>
            <a:r>
              <a:t>Period: January 1, 2021 through December 31, 2025.</a:t>
            </a:r>
          </a:p>
        </p:txBody>
      </p:sp>
      <p:sp>
        <p:nvSpPr>
          <p:cNvPr id="11" name="Oval 10"/>
          <p:cNvSpPr/>
          <p:nvPr/>
        </p:nvSpPr>
        <p:spPr>
          <a:xfrm>
            <a:off x="777240" y="3310128"/>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191256"/>
            <a:ext cx="10332719" cy="795528"/>
          </a:xfrm>
          <a:prstGeom prst="rect">
            <a:avLst/>
          </a:prstGeom>
          <a:noFill/>
        </p:spPr>
        <p:txBody>
          <a:bodyPr wrap="square">
            <a:spAutoFit/>
          </a:bodyPr>
          <a:lstStyle/>
          <a:p>
            <a:pPr>
              <a:spcAft>
                <a:spcPts val="900"/>
              </a:spcAft>
              <a:defRPr sz="1900" b="0">
                <a:solidFill>
                  <a:srgbClr val="13233A"/>
                </a:solidFill>
                <a:latin typeface="Aptos"/>
              </a:defRPr>
            </a:pPr>
            <a:r>
              <a:t>Coverage: AMD, AVGO, INTC, NVDA, TSM, plus SPY as the broad-market benchmark.</a:t>
            </a:r>
          </a:p>
        </p:txBody>
      </p:sp>
      <p:sp>
        <p:nvSpPr>
          <p:cNvPr id="13" name="Oval 12"/>
          <p:cNvSpPr/>
          <p:nvPr/>
        </p:nvSpPr>
        <p:spPr>
          <a:xfrm>
            <a:off x="777240" y="4151376"/>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4032504"/>
            <a:ext cx="10332719" cy="795528"/>
          </a:xfrm>
          <a:prstGeom prst="rect">
            <a:avLst/>
          </a:prstGeom>
          <a:noFill/>
        </p:spPr>
        <p:txBody>
          <a:bodyPr wrap="square">
            <a:spAutoFit/>
          </a:bodyPr>
          <a:lstStyle/>
          <a:p>
            <a:pPr>
              <a:spcAft>
                <a:spcPts val="900"/>
              </a:spcAft>
              <a:defRPr sz="1900" b="0">
                <a:solidFill>
                  <a:srgbClr val="13233A"/>
                </a:solidFill>
                <a:latin typeface="Aptos"/>
              </a:defRPr>
            </a:pPr>
            <a:r>
              <a:t>Documented dataset: 1,255 trading dates and 7,530 security-date observations.</a:t>
            </a:r>
          </a:p>
        </p:txBody>
      </p:sp>
      <p:sp>
        <p:nvSpPr>
          <p:cNvPr id="15" name="Oval 14"/>
          <p:cNvSpPr/>
          <p:nvPr/>
        </p:nvSpPr>
        <p:spPr>
          <a:xfrm>
            <a:off x="777240" y="4992624"/>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4873752"/>
            <a:ext cx="10332719" cy="795528"/>
          </a:xfrm>
          <a:prstGeom prst="rect">
            <a:avLst/>
          </a:prstGeom>
          <a:noFill/>
        </p:spPr>
        <p:txBody>
          <a:bodyPr wrap="square">
            <a:spAutoFit/>
          </a:bodyPr>
          <a:lstStyle/>
          <a:p>
            <a:pPr>
              <a:spcAft>
                <a:spcPts val="900"/>
              </a:spcAft>
              <a:defRPr sz="1900" b="0">
                <a:solidFill>
                  <a:srgbClr val="13233A"/>
                </a:solidFill>
                <a:latin typeface="Aptos"/>
              </a:defRPr>
            </a:pPr>
            <a:r>
              <a:t>Saved raw/cleaned CSV files support inspection without relying on a new live download.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502920"/>
          </a:xfrm>
          <a:prstGeom prst="rect">
            <a:avLst/>
          </a:prstGeom>
          <a:noFill/>
        </p:spPr>
        <p:txBody>
          <a:bodyPr wrap="square">
            <a:spAutoFit/>
          </a:bodyPr>
          <a:lstStyle/>
          <a:p>
            <a:pPr>
              <a:spcAft>
                <a:spcPts val="900"/>
              </a:spcAft>
              <a:defRPr sz="2900" b="1">
                <a:solidFill>
                  <a:srgbClr val="13233A"/>
                </a:solidFill>
                <a:latin typeface="Aptos"/>
              </a:defRPr>
            </a:pPr>
            <a:r>
              <a:t>Data pipeline and reproducibility</a:t>
            </a:r>
          </a:p>
        </p:txBody>
      </p:sp>
      <p:sp>
        <p:nvSpPr>
          <p:cNvPr id="4" name="Rounded Rectangle 3"/>
          <p:cNvSpPr/>
          <p:nvPr/>
        </p:nvSpPr>
        <p:spPr>
          <a:xfrm>
            <a:off x="9418320" y="6318504"/>
            <a:ext cx="2194560" cy="329184"/>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28048" y="6345936"/>
            <a:ext cx="2011680" cy="256032"/>
          </a:xfrm>
          <a:prstGeom prst="rect">
            <a:avLst/>
          </a:prstGeom>
          <a:noFill/>
        </p:spPr>
        <p:txBody>
          <a:bodyPr wrap="square">
            <a:spAutoFit/>
          </a:bodyPr>
          <a:lstStyle/>
          <a:p>
            <a:pPr>
              <a:spcAft>
                <a:spcPts val="900"/>
              </a:spcAft>
              <a:defRPr sz="1000" b="1">
                <a:solidFill>
                  <a:srgbClr val="225B90"/>
                </a:solidFill>
                <a:latin typeface="Aptos"/>
              </a:defRPr>
            </a:pPr>
            <a:r>
              <a:t>PRESENTER: REY</a:t>
            </a:r>
          </a:p>
        </p:txBody>
      </p:sp>
      <p:sp>
        <p:nvSpPr>
          <p:cNvPr id="6" name="TextBox 5"/>
          <p:cNvSpPr txBox="1"/>
          <p:nvPr/>
        </p:nvSpPr>
        <p:spPr>
          <a:xfrm>
            <a:off x="594360" y="6355080"/>
            <a:ext cx="6400800" cy="219456"/>
          </a:xfrm>
          <a:prstGeom prst="rect">
            <a:avLst/>
          </a:prstGeom>
          <a:noFill/>
        </p:spPr>
        <p:txBody>
          <a:bodyPr wrap="square">
            <a:spAutoFit/>
          </a:bodyPr>
          <a:lstStyle/>
          <a:p>
            <a:pPr>
              <a:spcAft>
                <a:spcPts val="900"/>
              </a:spcAft>
              <a:defRPr sz="900" b="0">
                <a:solidFill>
                  <a:srgbClr val="586979"/>
                </a:solidFill>
                <a:latin typeface="Aptos"/>
              </a:defRPr>
            </a:pPr>
            <a:r>
              <a:t>CIS480  •  Semiconductor Market Analysis  •  M08 Demo Day</a:t>
            </a:r>
          </a:p>
        </p:txBody>
      </p:sp>
      <p:sp>
        <p:nvSpPr>
          <p:cNvPr id="7" name="Rounded Rectangle 6"/>
          <p:cNvSpPr/>
          <p:nvPr/>
        </p:nvSpPr>
        <p:spPr>
          <a:xfrm>
            <a:off x="548640" y="2011680"/>
            <a:ext cx="1920240" cy="1005840"/>
          </a:xfrm>
          <a:prstGeom prst="roundRect">
            <a:avLst/>
          </a:prstGeom>
          <a:solidFill>
            <a:srgbClr val="EEF5F9"/>
          </a:solidFill>
          <a:ln>
            <a:solidFill>
              <a:srgbClr val="00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2267712"/>
            <a:ext cx="1783080" cy="457200"/>
          </a:xfrm>
          <a:prstGeom prst="rect">
            <a:avLst/>
          </a:prstGeom>
          <a:noFill/>
        </p:spPr>
        <p:txBody>
          <a:bodyPr wrap="square">
            <a:spAutoFit/>
          </a:bodyPr>
          <a:lstStyle/>
          <a:p>
            <a:pPr algn="ctr">
              <a:spcAft>
                <a:spcPts val="900"/>
              </a:spcAft>
              <a:defRPr sz="1700" b="1">
                <a:solidFill>
                  <a:srgbClr val="13233A"/>
                </a:solidFill>
                <a:latin typeface="Aptos"/>
              </a:defRPr>
            </a:pPr>
            <a:r>
              <a:t>yfinance</a:t>
            </a:r>
          </a:p>
        </p:txBody>
      </p:sp>
      <p:sp>
        <p:nvSpPr>
          <p:cNvPr id="9" name="TextBox 8"/>
          <p:cNvSpPr txBox="1"/>
          <p:nvPr/>
        </p:nvSpPr>
        <p:spPr>
          <a:xfrm>
            <a:off x="2523744" y="2286000"/>
            <a:ext cx="310896" cy="411480"/>
          </a:xfrm>
          <a:prstGeom prst="rect">
            <a:avLst/>
          </a:prstGeom>
          <a:noFill/>
        </p:spPr>
        <p:txBody>
          <a:bodyPr wrap="square">
            <a:spAutoFit/>
          </a:bodyPr>
          <a:lstStyle/>
          <a:p>
            <a:pPr>
              <a:spcAft>
                <a:spcPts val="900"/>
              </a:spcAft>
              <a:defRPr sz="2400" b="1">
                <a:solidFill>
                  <a:srgbClr val="00888E"/>
                </a:solidFill>
                <a:latin typeface="Aptos"/>
              </a:defRPr>
            </a:pPr>
            <a:r>
              <a:t>→</a:t>
            </a:r>
          </a:p>
        </p:txBody>
      </p:sp>
      <p:sp>
        <p:nvSpPr>
          <p:cNvPr id="10" name="Rounded Rectangle 9"/>
          <p:cNvSpPr/>
          <p:nvPr/>
        </p:nvSpPr>
        <p:spPr>
          <a:xfrm>
            <a:off x="2862072" y="2011680"/>
            <a:ext cx="1920240" cy="1005840"/>
          </a:xfrm>
          <a:prstGeom prst="roundRect">
            <a:avLst/>
          </a:prstGeom>
          <a:solidFill>
            <a:srgbClr val="EEF5F9"/>
          </a:solidFill>
          <a:ln>
            <a:solidFill>
              <a:srgbClr val="00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35224" y="2267712"/>
            <a:ext cx="1783080" cy="457200"/>
          </a:xfrm>
          <a:prstGeom prst="rect">
            <a:avLst/>
          </a:prstGeom>
          <a:noFill/>
        </p:spPr>
        <p:txBody>
          <a:bodyPr wrap="square">
            <a:spAutoFit/>
          </a:bodyPr>
          <a:lstStyle/>
          <a:p>
            <a:pPr algn="ctr">
              <a:spcAft>
                <a:spcPts val="900"/>
              </a:spcAft>
              <a:defRPr sz="1700" b="1">
                <a:solidFill>
                  <a:srgbClr val="13233A"/>
                </a:solidFill>
                <a:latin typeface="Aptos"/>
              </a:defRPr>
            </a:pPr>
            <a:r>
              <a:t>Saved CSV</a:t>
            </a:r>
          </a:p>
        </p:txBody>
      </p:sp>
      <p:sp>
        <p:nvSpPr>
          <p:cNvPr id="12" name="TextBox 11"/>
          <p:cNvSpPr txBox="1"/>
          <p:nvPr/>
        </p:nvSpPr>
        <p:spPr>
          <a:xfrm>
            <a:off x="4837176" y="2286000"/>
            <a:ext cx="310896" cy="411480"/>
          </a:xfrm>
          <a:prstGeom prst="rect">
            <a:avLst/>
          </a:prstGeom>
          <a:noFill/>
        </p:spPr>
        <p:txBody>
          <a:bodyPr wrap="square">
            <a:spAutoFit/>
          </a:bodyPr>
          <a:lstStyle/>
          <a:p>
            <a:pPr>
              <a:spcAft>
                <a:spcPts val="900"/>
              </a:spcAft>
              <a:defRPr sz="2400" b="1">
                <a:solidFill>
                  <a:srgbClr val="00888E"/>
                </a:solidFill>
                <a:latin typeface="Aptos"/>
              </a:defRPr>
            </a:pPr>
            <a:r>
              <a:t>→</a:t>
            </a:r>
          </a:p>
        </p:txBody>
      </p:sp>
      <p:sp>
        <p:nvSpPr>
          <p:cNvPr id="13" name="Rounded Rectangle 12"/>
          <p:cNvSpPr/>
          <p:nvPr/>
        </p:nvSpPr>
        <p:spPr>
          <a:xfrm>
            <a:off x="5175503" y="2011680"/>
            <a:ext cx="1920240" cy="1005840"/>
          </a:xfrm>
          <a:prstGeom prst="roundRect">
            <a:avLst/>
          </a:prstGeom>
          <a:solidFill>
            <a:srgbClr val="EEF5F9"/>
          </a:solidFill>
          <a:ln>
            <a:solidFill>
              <a:srgbClr val="00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248655" y="2267712"/>
            <a:ext cx="1783080" cy="457200"/>
          </a:xfrm>
          <a:prstGeom prst="rect">
            <a:avLst/>
          </a:prstGeom>
          <a:noFill/>
        </p:spPr>
        <p:txBody>
          <a:bodyPr wrap="square">
            <a:spAutoFit/>
          </a:bodyPr>
          <a:lstStyle/>
          <a:p>
            <a:pPr algn="ctr">
              <a:spcAft>
                <a:spcPts val="900"/>
              </a:spcAft>
              <a:defRPr sz="1700" b="1">
                <a:solidFill>
                  <a:srgbClr val="13233A"/>
                </a:solidFill>
                <a:latin typeface="Aptos"/>
              </a:defRPr>
            </a:pPr>
            <a:r>
              <a:t>Python / Jupyter</a:t>
            </a:r>
          </a:p>
        </p:txBody>
      </p:sp>
      <p:sp>
        <p:nvSpPr>
          <p:cNvPr id="15" name="TextBox 14"/>
          <p:cNvSpPr txBox="1"/>
          <p:nvPr/>
        </p:nvSpPr>
        <p:spPr>
          <a:xfrm>
            <a:off x="7150607" y="2286000"/>
            <a:ext cx="310896" cy="411480"/>
          </a:xfrm>
          <a:prstGeom prst="rect">
            <a:avLst/>
          </a:prstGeom>
          <a:noFill/>
        </p:spPr>
        <p:txBody>
          <a:bodyPr wrap="square">
            <a:spAutoFit/>
          </a:bodyPr>
          <a:lstStyle/>
          <a:p>
            <a:pPr>
              <a:spcAft>
                <a:spcPts val="900"/>
              </a:spcAft>
              <a:defRPr sz="2400" b="1">
                <a:solidFill>
                  <a:srgbClr val="00888E"/>
                </a:solidFill>
                <a:latin typeface="Aptos"/>
              </a:defRPr>
            </a:pPr>
            <a:r>
              <a:t>→</a:t>
            </a:r>
          </a:p>
        </p:txBody>
      </p:sp>
      <p:sp>
        <p:nvSpPr>
          <p:cNvPr id="16" name="Rounded Rectangle 15"/>
          <p:cNvSpPr/>
          <p:nvPr/>
        </p:nvSpPr>
        <p:spPr>
          <a:xfrm>
            <a:off x="7488936" y="2011680"/>
            <a:ext cx="1920240" cy="1005840"/>
          </a:xfrm>
          <a:prstGeom prst="roundRect">
            <a:avLst/>
          </a:prstGeom>
          <a:solidFill>
            <a:srgbClr val="EEF5F9"/>
          </a:solidFill>
          <a:ln>
            <a:solidFill>
              <a:srgbClr val="00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62088" y="2267712"/>
            <a:ext cx="1783080" cy="457200"/>
          </a:xfrm>
          <a:prstGeom prst="rect">
            <a:avLst/>
          </a:prstGeom>
          <a:noFill/>
        </p:spPr>
        <p:txBody>
          <a:bodyPr wrap="square">
            <a:spAutoFit/>
          </a:bodyPr>
          <a:lstStyle/>
          <a:p>
            <a:pPr algn="ctr">
              <a:spcAft>
                <a:spcPts val="900"/>
              </a:spcAft>
              <a:defRPr sz="1700" b="1">
                <a:solidFill>
                  <a:srgbClr val="13233A"/>
                </a:solidFill>
                <a:latin typeface="Aptos"/>
              </a:defRPr>
            </a:pPr>
            <a:r>
              <a:t>Validation + KPIs</a:t>
            </a:r>
          </a:p>
        </p:txBody>
      </p:sp>
      <p:sp>
        <p:nvSpPr>
          <p:cNvPr id="18" name="TextBox 17"/>
          <p:cNvSpPr txBox="1"/>
          <p:nvPr/>
        </p:nvSpPr>
        <p:spPr>
          <a:xfrm>
            <a:off x="9464040" y="2286000"/>
            <a:ext cx="310896" cy="411480"/>
          </a:xfrm>
          <a:prstGeom prst="rect">
            <a:avLst/>
          </a:prstGeom>
          <a:noFill/>
        </p:spPr>
        <p:txBody>
          <a:bodyPr wrap="square">
            <a:spAutoFit/>
          </a:bodyPr>
          <a:lstStyle/>
          <a:p>
            <a:pPr>
              <a:spcAft>
                <a:spcPts val="900"/>
              </a:spcAft>
              <a:defRPr sz="2400" b="1">
                <a:solidFill>
                  <a:srgbClr val="00888E"/>
                </a:solidFill>
                <a:latin typeface="Aptos"/>
              </a:defRPr>
            </a:pPr>
            <a:r>
              <a:t>→</a:t>
            </a:r>
          </a:p>
        </p:txBody>
      </p:sp>
      <p:sp>
        <p:nvSpPr>
          <p:cNvPr id="19" name="Rounded Rectangle 18"/>
          <p:cNvSpPr/>
          <p:nvPr/>
        </p:nvSpPr>
        <p:spPr>
          <a:xfrm>
            <a:off x="9802367" y="2011680"/>
            <a:ext cx="1920240" cy="1005840"/>
          </a:xfrm>
          <a:prstGeom prst="roundRect">
            <a:avLst/>
          </a:prstGeom>
          <a:solidFill>
            <a:srgbClr val="EEF5F9"/>
          </a:solidFill>
          <a:ln>
            <a:solidFill>
              <a:srgbClr val="00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19" y="2267712"/>
            <a:ext cx="1783080" cy="457200"/>
          </a:xfrm>
          <a:prstGeom prst="rect">
            <a:avLst/>
          </a:prstGeom>
          <a:noFill/>
        </p:spPr>
        <p:txBody>
          <a:bodyPr wrap="square">
            <a:spAutoFit/>
          </a:bodyPr>
          <a:lstStyle/>
          <a:p>
            <a:pPr algn="ctr">
              <a:spcAft>
                <a:spcPts val="900"/>
              </a:spcAft>
              <a:defRPr sz="1700" b="1">
                <a:solidFill>
                  <a:srgbClr val="13233A"/>
                </a:solidFill>
                <a:latin typeface="Aptos"/>
              </a:defRPr>
            </a:pPr>
            <a:r>
              <a:t>Power BI</a:t>
            </a:r>
          </a:p>
        </p:txBody>
      </p:sp>
      <p:sp>
        <p:nvSpPr>
          <p:cNvPr id="21" name="Oval 20"/>
          <p:cNvSpPr/>
          <p:nvPr/>
        </p:nvSpPr>
        <p:spPr>
          <a:xfrm>
            <a:off x="731520" y="3913632"/>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3794760"/>
            <a:ext cx="10332719" cy="704087"/>
          </a:xfrm>
          <a:prstGeom prst="rect">
            <a:avLst/>
          </a:prstGeom>
          <a:noFill/>
        </p:spPr>
        <p:txBody>
          <a:bodyPr wrap="square">
            <a:spAutoFit/>
          </a:bodyPr>
          <a:lstStyle/>
          <a:p>
            <a:pPr>
              <a:spcAft>
                <a:spcPts val="900"/>
              </a:spcAft>
              <a:defRPr sz="1900" b="0">
                <a:solidFill>
                  <a:srgbClr val="13233A"/>
                </a:solidFill>
                <a:latin typeface="Aptos"/>
              </a:defRPr>
            </a:pPr>
            <a:r>
              <a:t>Checks include required tickers, date coverage, missing prices, and duplicate security-date pairs.</a:t>
            </a:r>
          </a:p>
        </p:txBody>
      </p:sp>
      <p:sp>
        <p:nvSpPr>
          <p:cNvPr id="23" name="Oval 22"/>
          <p:cNvSpPr/>
          <p:nvPr/>
        </p:nvSpPr>
        <p:spPr>
          <a:xfrm>
            <a:off x="731520" y="4663440"/>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4544568"/>
            <a:ext cx="10332719" cy="704087"/>
          </a:xfrm>
          <a:prstGeom prst="rect">
            <a:avLst/>
          </a:prstGeom>
          <a:noFill/>
        </p:spPr>
        <p:txBody>
          <a:bodyPr wrap="square">
            <a:spAutoFit/>
          </a:bodyPr>
          <a:lstStyle/>
          <a:p>
            <a:pPr>
              <a:spcAft>
                <a:spcPts val="900"/>
              </a:spcAft>
              <a:defRPr sz="1900" b="0">
                <a:solidFill>
                  <a:srgbClr val="13233A"/>
                </a:solidFill>
                <a:latin typeface="Aptos"/>
              </a:defRPr>
            </a:pPr>
            <a:r>
              <a:t>Master notebook executed successfully in Luis’s environment; Rey’s independent rerun is pending.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502920"/>
          </a:xfrm>
          <a:prstGeom prst="rect">
            <a:avLst/>
          </a:prstGeom>
          <a:noFill/>
        </p:spPr>
        <p:txBody>
          <a:bodyPr wrap="square">
            <a:spAutoFit/>
          </a:bodyPr>
          <a:lstStyle/>
          <a:p>
            <a:pPr>
              <a:spcAft>
                <a:spcPts val="900"/>
              </a:spcAft>
              <a:defRPr sz="2900" b="1">
                <a:solidFill>
                  <a:srgbClr val="13233A"/>
                </a:solidFill>
                <a:latin typeface="Aptos"/>
              </a:defRPr>
            </a:pPr>
            <a:r>
              <a:t>Three KPIs and why we use them</a:t>
            </a:r>
          </a:p>
        </p:txBody>
      </p:sp>
      <p:sp>
        <p:nvSpPr>
          <p:cNvPr id="4" name="Rounded Rectangle 3"/>
          <p:cNvSpPr/>
          <p:nvPr/>
        </p:nvSpPr>
        <p:spPr>
          <a:xfrm>
            <a:off x="9418320" y="6318504"/>
            <a:ext cx="2194560" cy="329184"/>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28048" y="6345936"/>
            <a:ext cx="2011680" cy="256032"/>
          </a:xfrm>
          <a:prstGeom prst="rect">
            <a:avLst/>
          </a:prstGeom>
          <a:noFill/>
        </p:spPr>
        <p:txBody>
          <a:bodyPr wrap="square">
            <a:spAutoFit/>
          </a:bodyPr>
          <a:lstStyle/>
          <a:p>
            <a:pPr>
              <a:spcAft>
                <a:spcPts val="900"/>
              </a:spcAft>
              <a:defRPr sz="1000" b="1">
                <a:solidFill>
                  <a:srgbClr val="225B90"/>
                </a:solidFill>
                <a:latin typeface="Aptos"/>
              </a:defRPr>
            </a:pPr>
            <a:r>
              <a:t>PRESENTER: COLEN</a:t>
            </a:r>
          </a:p>
        </p:txBody>
      </p:sp>
      <p:sp>
        <p:nvSpPr>
          <p:cNvPr id="6" name="TextBox 5"/>
          <p:cNvSpPr txBox="1"/>
          <p:nvPr/>
        </p:nvSpPr>
        <p:spPr>
          <a:xfrm>
            <a:off x="594360" y="6355080"/>
            <a:ext cx="6400800" cy="219456"/>
          </a:xfrm>
          <a:prstGeom prst="rect">
            <a:avLst/>
          </a:prstGeom>
          <a:noFill/>
        </p:spPr>
        <p:txBody>
          <a:bodyPr wrap="square">
            <a:spAutoFit/>
          </a:bodyPr>
          <a:lstStyle/>
          <a:p>
            <a:pPr>
              <a:spcAft>
                <a:spcPts val="900"/>
              </a:spcAft>
              <a:defRPr sz="900" b="0">
                <a:solidFill>
                  <a:srgbClr val="586979"/>
                </a:solidFill>
                <a:latin typeface="Aptos"/>
              </a:defRPr>
            </a:pPr>
            <a:r>
              <a:t>CIS480  •  Semiconductor Market Analysis  •  M08 Demo Day</a:t>
            </a:r>
          </a:p>
        </p:txBody>
      </p:sp>
      <p:sp>
        <p:nvSpPr>
          <p:cNvPr id="7" name="Oval 6"/>
          <p:cNvSpPr/>
          <p:nvPr/>
        </p:nvSpPr>
        <p:spPr>
          <a:xfrm>
            <a:off x="777240" y="1627631"/>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508760"/>
            <a:ext cx="10332719" cy="941832"/>
          </a:xfrm>
          <a:prstGeom prst="rect">
            <a:avLst/>
          </a:prstGeom>
          <a:noFill/>
        </p:spPr>
        <p:txBody>
          <a:bodyPr wrap="square">
            <a:spAutoFit/>
          </a:bodyPr>
          <a:lstStyle/>
          <a:p>
            <a:pPr>
              <a:spcAft>
                <a:spcPts val="900"/>
              </a:spcAft>
              <a:defRPr sz="2000" b="0">
                <a:solidFill>
                  <a:srgbClr val="13233A"/>
                </a:solidFill>
                <a:latin typeface="Aptos"/>
              </a:defRPr>
            </a:pPr>
            <a:r>
              <a:t>Cumulative return: percentage change from the starting adjusted price to the ending price.</a:t>
            </a:r>
          </a:p>
        </p:txBody>
      </p:sp>
      <p:sp>
        <p:nvSpPr>
          <p:cNvPr id="9" name="Oval 8"/>
          <p:cNvSpPr/>
          <p:nvPr/>
        </p:nvSpPr>
        <p:spPr>
          <a:xfrm>
            <a:off x="777240" y="2615184"/>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496312"/>
            <a:ext cx="10332719" cy="941832"/>
          </a:xfrm>
          <a:prstGeom prst="rect">
            <a:avLst/>
          </a:prstGeom>
          <a:noFill/>
        </p:spPr>
        <p:txBody>
          <a:bodyPr wrap="square">
            <a:spAutoFit/>
          </a:bodyPr>
          <a:lstStyle/>
          <a:p>
            <a:pPr>
              <a:spcAft>
                <a:spcPts val="900"/>
              </a:spcAft>
              <a:defRPr sz="2000" b="0">
                <a:solidFill>
                  <a:srgbClr val="13233A"/>
                </a:solidFill>
                <a:latin typeface="Aptos"/>
              </a:defRPr>
            </a:pPr>
            <a:r>
              <a:t>Annualized volatility: standard deviation of daily returns scaled to approximately 252 trading days.</a:t>
            </a:r>
          </a:p>
        </p:txBody>
      </p:sp>
      <p:sp>
        <p:nvSpPr>
          <p:cNvPr id="11" name="Oval 10"/>
          <p:cNvSpPr/>
          <p:nvPr/>
        </p:nvSpPr>
        <p:spPr>
          <a:xfrm>
            <a:off x="777240" y="3602736"/>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483864"/>
            <a:ext cx="10332719" cy="941832"/>
          </a:xfrm>
          <a:prstGeom prst="rect">
            <a:avLst/>
          </a:prstGeom>
          <a:noFill/>
        </p:spPr>
        <p:txBody>
          <a:bodyPr wrap="square">
            <a:spAutoFit/>
          </a:bodyPr>
          <a:lstStyle/>
          <a:p>
            <a:pPr>
              <a:spcAft>
                <a:spcPts val="900"/>
              </a:spcAft>
              <a:defRPr sz="2000" b="0">
                <a:solidFill>
                  <a:srgbClr val="13233A"/>
                </a:solidFill>
                <a:latin typeface="Aptos"/>
              </a:defRPr>
            </a:pPr>
            <a:r>
              <a:t>Maximum drawdown: the largest peak-to-trough decline during the selected period.</a:t>
            </a:r>
          </a:p>
        </p:txBody>
      </p:sp>
      <p:sp>
        <p:nvSpPr>
          <p:cNvPr id="13" name="Oval 12"/>
          <p:cNvSpPr/>
          <p:nvPr/>
        </p:nvSpPr>
        <p:spPr>
          <a:xfrm>
            <a:off x="777240" y="4590288"/>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4471416"/>
            <a:ext cx="10332719" cy="941832"/>
          </a:xfrm>
          <a:prstGeom prst="rect">
            <a:avLst/>
          </a:prstGeom>
          <a:noFill/>
        </p:spPr>
        <p:txBody>
          <a:bodyPr wrap="square">
            <a:spAutoFit/>
          </a:bodyPr>
          <a:lstStyle/>
          <a:p>
            <a:pPr>
              <a:spcAft>
                <a:spcPts val="900"/>
              </a:spcAft>
              <a:defRPr sz="2000" b="0">
                <a:solidFill>
                  <a:srgbClr val="13233A"/>
                </a:solidFill>
                <a:latin typeface="Aptos"/>
              </a:defRPr>
            </a:pPr>
            <a:r>
              <a:t>Decision rule: interpret return alongside volatility and drawdown—not return alone.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502920"/>
          </a:xfrm>
          <a:prstGeom prst="rect">
            <a:avLst/>
          </a:prstGeom>
          <a:noFill/>
        </p:spPr>
        <p:txBody>
          <a:bodyPr wrap="square">
            <a:spAutoFit/>
          </a:bodyPr>
          <a:lstStyle/>
          <a:p>
            <a:pPr>
              <a:spcAft>
                <a:spcPts val="900"/>
              </a:spcAft>
              <a:defRPr sz="2900" b="1">
                <a:solidFill>
                  <a:srgbClr val="13233A"/>
                </a:solidFill>
                <a:latin typeface="Aptos"/>
              </a:defRPr>
            </a:pPr>
            <a:r>
              <a:t>Live Power BI demonstration</a:t>
            </a:r>
          </a:p>
        </p:txBody>
      </p:sp>
      <p:sp>
        <p:nvSpPr>
          <p:cNvPr id="4" name="TextBox 3"/>
          <p:cNvSpPr txBox="1"/>
          <p:nvPr/>
        </p:nvSpPr>
        <p:spPr>
          <a:xfrm>
            <a:off x="594360" y="932688"/>
            <a:ext cx="10881360" cy="384048"/>
          </a:xfrm>
          <a:prstGeom prst="rect">
            <a:avLst/>
          </a:prstGeom>
          <a:noFill/>
        </p:spPr>
        <p:txBody>
          <a:bodyPr wrap="square">
            <a:spAutoFit/>
          </a:bodyPr>
          <a:lstStyle/>
          <a:p>
            <a:pPr>
              <a:spcAft>
                <a:spcPts val="900"/>
              </a:spcAft>
              <a:defRPr sz="1400" b="0">
                <a:solidFill>
                  <a:srgbClr val="586979"/>
                </a:solidFill>
                <a:latin typeface="Aptos"/>
              </a:defRPr>
            </a:pPr>
            <a:r>
              <a:t>Demonstrate the actual .pbix file, not a screenshot alone</a:t>
            </a:r>
          </a:p>
        </p:txBody>
      </p:sp>
      <p:sp>
        <p:nvSpPr>
          <p:cNvPr id="5" name="Rounded Rectangle 4"/>
          <p:cNvSpPr/>
          <p:nvPr/>
        </p:nvSpPr>
        <p:spPr>
          <a:xfrm>
            <a:off x="9418320" y="6318504"/>
            <a:ext cx="2194560" cy="329184"/>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528048" y="6345936"/>
            <a:ext cx="2011680" cy="256032"/>
          </a:xfrm>
          <a:prstGeom prst="rect">
            <a:avLst/>
          </a:prstGeom>
          <a:noFill/>
        </p:spPr>
        <p:txBody>
          <a:bodyPr wrap="square">
            <a:spAutoFit/>
          </a:bodyPr>
          <a:lstStyle/>
          <a:p>
            <a:pPr>
              <a:spcAft>
                <a:spcPts val="900"/>
              </a:spcAft>
              <a:defRPr sz="1000" b="1">
                <a:solidFill>
                  <a:srgbClr val="225B90"/>
                </a:solidFill>
                <a:latin typeface="Aptos"/>
              </a:defRPr>
            </a:pPr>
            <a:r>
              <a:t>PRESENTER: LUIS</a:t>
            </a:r>
          </a:p>
        </p:txBody>
      </p:sp>
      <p:sp>
        <p:nvSpPr>
          <p:cNvPr id="7" name="TextBox 6"/>
          <p:cNvSpPr txBox="1"/>
          <p:nvPr/>
        </p:nvSpPr>
        <p:spPr>
          <a:xfrm>
            <a:off x="594360" y="6355080"/>
            <a:ext cx="6400800" cy="219456"/>
          </a:xfrm>
          <a:prstGeom prst="rect">
            <a:avLst/>
          </a:prstGeom>
          <a:noFill/>
        </p:spPr>
        <p:txBody>
          <a:bodyPr wrap="square">
            <a:spAutoFit/>
          </a:bodyPr>
          <a:lstStyle/>
          <a:p>
            <a:pPr>
              <a:spcAft>
                <a:spcPts val="900"/>
              </a:spcAft>
              <a:defRPr sz="900" b="0">
                <a:solidFill>
                  <a:srgbClr val="586979"/>
                </a:solidFill>
                <a:latin typeface="Aptos"/>
              </a:defRPr>
            </a:pPr>
            <a:r>
              <a:t>CIS480  •  Semiconductor Market Analysis  •  M08 Demo Day</a:t>
            </a:r>
          </a:p>
        </p:txBody>
      </p:sp>
      <p:sp>
        <p:nvSpPr>
          <p:cNvPr id="8" name="Oval 7"/>
          <p:cNvSpPr/>
          <p:nvPr/>
        </p:nvSpPr>
        <p:spPr>
          <a:xfrm>
            <a:off x="777240" y="1627631"/>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508760"/>
            <a:ext cx="10332719" cy="758952"/>
          </a:xfrm>
          <a:prstGeom prst="rect">
            <a:avLst/>
          </a:prstGeom>
          <a:noFill/>
        </p:spPr>
        <p:txBody>
          <a:bodyPr wrap="square">
            <a:spAutoFit/>
          </a:bodyPr>
          <a:lstStyle/>
          <a:p>
            <a:pPr>
              <a:spcAft>
                <a:spcPts val="900"/>
              </a:spcAft>
              <a:defRPr sz="1900" b="0">
                <a:solidFill>
                  <a:srgbClr val="13233A"/>
                </a:solidFill>
                <a:latin typeface="Aptos"/>
              </a:defRPr>
            </a:pPr>
            <a:r>
              <a:t>Open the Power BI dashboard and confirm all six securities are available.</a:t>
            </a:r>
          </a:p>
        </p:txBody>
      </p:sp>
      <p:sp>
        <p:nvSpPr>
          <p:cNvPr id="10" name="Oval 9"/>
          <p:cNvSpPr/>
          <p:nvPr/>
        </p:nvSpPr>
        <p:spPr>
          <a:xfrm>
            <a:off x="777240" y="2432303"/>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2313432"/>
            <a:ext cx="10332719" cy="758952"/>
          </a:xfrm>
          <a:prstGeom prst="rect">
            <a:avLst/>
          </a:prstGeom>
          <a:noFill/>
        </p:spPr>
        <p:txBody>
          <a:bodyPr wrap="square">
            <a:spAutoFit/>
          </a:bodyPr>
          <a:lstStyle/>
          <a:p>
            <a:pPr>
              <a:spcAft>
                <a:spcPts val="900"/>
              </a:spcAft>
              <a:defRPr sz="1900" b="0">
                <a:solidFill>
                  <a:srgbClr val="13233A"/>
                </a:solidFill>
                <a:latin typeface="Aptos"/>
              </a:defRPr>
            </a:pPr>
            <a:r>
              <a:t>Show cumulative return, annualized volatility, and maximum drawdown.</a:t>
            </a:r>
          </a:p>
        </p:txBody>
      </p:sp>
      <p:sp>
        <p:nvSpPr>
          <p:cNvPr id="12" name="Oval 11"/>
          <p:cNvSpPr/>
          <p:nvPr/>
        </p:nvSpPr>
        <p:spPr>
          <a:xfrm>
            <a:off x="777240" y="3236976"/>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3118104"/>
            <a:ext cx="10332719" cy="758952"/>
          </a:xfrm>
          <a:prstGeom prst="rect">
            <a:avLst/>
          </a:prstGeom>
          <a:noFill/>
        </p:spPr>
        <p:txBody>
          <a:bodyPr wrap="square">
            <a:spAutoFit/>
          </a:bodyPr>
          <a:lstStyle/>
          <a:p>
            <a:pPr>
              <a:spcAft>
                <a:spcPts val="900"/>
              </a:spcAft>
              <a:defRPr sz="1900" b="0">
                <a:solidFill>
                  <a:srgbClr val="13233A"/>
                </a:solidFill>
                <a:latin typeface="Aptos"/>
              </a:defRPr>
            </a:pPr>
            <a:r>
              <a:t>Change the ticker selection and explain which visuals respond.</a:t>
            </a:r>
          </a:p>
        </p:txBody>
      </p:sp>
      <p:sp>
        <p:nvSpPr>
          <p:cNvPr id="14" name="Oval 13"/>
          <p:cNvSpPr/>
          <p:nvPr/>
        </p:nvSpPr>
        <p:spPr>
          <a:xfrm>
            <a:off x="777240" y="4041648"/>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3922776"/>
            <a:ext cx="10332719" cy="758952"/>
          </a:xfrm>
          <a:prstGeom prst="rect">
            <a:avLst/>
          </a:prstGeom>
          <a:noFill/>
        </p:spPr>
        <p:txBody>
          <a:bodyPr wrap="square">
            <a:spAutoFit/>
          </a:bodyPr>
          <a:lstStyle/>
          <a:p>
            <a:pPr>
              <a:spcAft>
                <a:spcPts val="900"/>
              </a:spcAft>
              <a:defRPr sz="1900" b="0">
                <a:solidFill>
                  <a:srgbClr val="13233A"/>
                </a:solidFill>
                <a:latin typeface="Aptos"/>
              </a:defRPr>
            </a:pPr>
            <a:r>
              <a:t>Change the date filter to 2024; compare displayed results with the documented checks.</a:t>
            </a:r>
          </a:p>
        </p:txBody>
      </p:sp>
      <p:sp>
        <p:nvSpPr>
          <p:cNvPr id="16" name="Oval 15"/>
          <p:cNvSpPr/>
          <p:nvPr/>
        </p:nvSpPr>
        <p:spPr>
          <a:xfrm>
            <a:off x="777240" y="4846320"/>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727448"/>
            <a:ext cx="10332719" cy="758952"/>
          </a:xfrm>
          <a:prstGeom prst="rect">
            <a:avLst/>
          </a:prstGeom>
          <a:noFill/>
        </p:spPr>
        <p:txBody>
          <a:bodyPr wrap="square">
            <a:spAutoFit/>
          </a:bodyPr>
          <a:lstStyle/>
          <a:p>
            <a:pPr>
              <a:spcAft>
                <a:spcPts val="900"/>
              </a:spcAft>
              <a:defRPr sz="1900" b="0">
                <a:solidFill>
                  <a:srgbClr val="13233A"/>
                </a:solidFill>
                <a:latin typeface="Aptos"/>
              </a:defRPr>
            </a:pPr>
            <a:r>
              <a:t>If the live file fails, use the backup recording and text outline.</a:t>
            </a:r>
          </a:p>
        </p:txBody>
      </p:sp>
      <p:sp>
        <p:nvSpPr>
          <p:cNvPr id="18" name="TextBox 17"/>
          <p:cNvSpPr txBox="1"/>
          <p:nvPr/>
        </p:nvSpPr>
        <p:spPr>
          <a:xfrm>
            <a:off x="841248" y="5650992"/>
            <a:ext cx="10058400" cy="320040"/>
          </a:xfrm>
          <a:prstGeom prst="rect">
            <a:avLst/>
          </a:prstGeom>
          <a:noFill/>
        </p:spPr>
        <p:txBody>
          <a:bodyPr wrap="square">
            <a:spAutoFit/>
          </a:bodyPr>
          <a:lstStyle/>
          <a:p>
            <a:pPr>
              <a:spcAft>
                <a:spcPts val="900"/>
              </a:spcAft>
              <a:defRPr sz="1300" b="0">
                <a:solidFill>
                  <a:srgbClr val="225B90"/>
                </a:solidFill>
                <a:latin typeface="Aptos"/>
              </a:defRPr>
            </a:pPr>
            <a:r>
              <a:rPr>
                <a:hlinkClick r:id="rId3"/>
              </a:rPr>
              <a:t>Open Power BI artifact in GitHub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502920"/>
          </a:xfrm>
          <a:prstGeom prst="rect">
            <a:avLst/>
          </a:prstGeom>
          <a:noFill/>
        </p:spPr>
        <p:txBody>
          <a:bodyPr wrap="square">
            <a:spAutoFit/>
          </a:bodyPr>
          <a:lstStyle/>
          <a:p>
            <a:pPr>
              <a:spcAft>
                <a:spcPts val="900"/>
              </a:spcAft>
              <a:defRPr sz="2900" b="1">
                <a:solidFill>
                  <a:srgbClr val="13233A"/>
                </a:solidFill>
                <a:latin typeface="Aptos"/>
              </a:defRPr>
            </a:pPr>
            <a:r>
              <a:t>What the historical results show</a:t>
            </a:r>
          </a:p>
        </p:txBody>
      </p:sp>
      <p:sp>
        <p:nvSpPr>
          <p:cNvPr id="4" name="Rounded Rectangle 3"/>
          <p:cNvSpPr/>
          <p:nvPr/>
        </p:nvSpPr>
        <p:spPr>
          <a:xfrm>
            <a:off x="9418320" y="6318504"/>
            <a:ext cx="2194560" cy="329184"/>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28048" y="6345936"/>
            <a:ext cx="2011680" cy="256032"/>
          </a:xfrm>
          <a:prstGeom prst="rect">
            <a:avLst/>
          </a:prstGeom>
          <a:noFill/>
        </p:spPr>
        <p:txBody>
          <a:bodyPr wrap="square">
            <a:spAutoFit/>
          </a:bodyPr>
          <a:lstStyle/>
          <a:p>
            <a:pPr>
              <a:spcAft>
                <a:spcPts val="900"/>
              </a:spcAft>
              <a:defRPr sz="1000" b="1">
                <a:solidFill>
                  <a:srgbClr val="225B90"/>
                </a:solidFill>
                <a:latin typeface="Aptos"/>
              </a:defRPr>
            </a:pPr>
            <a:r>
              <a:t>PRESENTER: LUIS</a:t>
            </a:r>
          </a:p>
        </p:txBody>
      </p:sp>
      <p:sp>
        <p:nvSpPr>
          <p:cNvPr id="6" name="TextBox 5"/>
          <p:cNvSpPr txBox="1"/>
          <p:nvPr/>
        </p:nvSpPr>
        <p:spPr>
          <a:xfrm>
            <a:off x="594360" y="6355080"/>
            <a:ext cx="6400800" cy="219456"/>
          </a:xfrm>
          <a:prstGeom prst="rect">
            <a:avLst/>
          </a:prstGeom>
          <a:noFill/>
        </p:spPr>
        <p:txBody>
          <a:bodyPr wrap="square">
            <a:spAutoFit/>
          </a:bodyPr>
          <a:lstStyle/>
          <a:p>
            <a:pPr>
              <a:spcAft>
                <a:spcPts val="900"/>
              </a:spcAft>
              <a:defRPr sz="900" b="0">
                <a:solidFill>
                  <a:srgbClr val="586979"/>
                </a:solidFill>
                <a:latin typeface="Aptos"/>
              </a:defRPr>
            </a:pPr>
            <a:r>
              <a:t>CIS480  •  Semiconductor Market Analysis  •  M08 Demo Day</a:t>
            </a:r>
          </a:p>
        </p:txBody>
      </p:sp>
      <p:graphicFrame>
        <p:nvGraphicFramePr>
          <p:cNvPr id="7" name="Table 6"/>
          <p:cNvGraphicFramePr>
            <a:graphicFrameLocks noGrp="1"/>
          </p:cNvGraphicFramePr>
          <p:nvPr/>
        </p:nvGraphicFramePr>
        <p:xfrm>
          <a:off x="731520" y="1463040"/>
          <a:ext cx="10744200" cy="3840480"/>
        </p:xfrm>
        <a:graphic>
          <a:graphicData uri="http://schemas.openxmlformats.org/drawingml/2006/table">
            <a:tbl>
              <a:tblPr firstRow="1" bandRow="1">
                <a:tableStyleId>{5C22544A-7EE6-4342-B048-85BDC9FD1C3A}</a:tableStyleId>
              </a:tblPr>
              <a:tblGrid>
                <a:gridCol w="2686050">
                  <a:extLst>
                    <a:ext uri="{9D8B030D-6E8A-4147-A177-3AD203B41FA5}">
                      <a16:colId xmlns:a16="http://schemas.microsoft.com/office/drawing/2014/main" val="20000"/>
                    </a:ext>
                  </a:extLst>
                </a:gridCol>
                <a:gridCol w="2686050">
                  <a:extLst>
                    <a:ext uri="{9D8B030D-6E8A-4147-A177-3AD203B41FA5}">
                      <a16:colId xmlns:a16="http://schemas.microsoft.com/office/drawing/2014/main" val="20001"/>
                    </a:ext>
                  </a:extLst>
                </a:gridCol>
                <a:gridCol w="2686050">
                  <a:extLst>
                    <a:ext uri="{9D8B030D-6E8A-4147-A177-3AD203B41FA5}">
                      <a16:colId xmlns:a16="http://schemas.microsoft.com/office/drawing/2014/main" val="20002"/>
                    </a:ext>
                  </a:extLst>
                </a:gridCol>
                <a:gridCol w="2686050">
                  <a:extLst>
                    <a:ext uri="{9D8B030D-6E8A-4147-A177-3AD203B41FA5}">
                      <a16:colId xmlns:a16="http://schemas.microsoft.com/office/drawing/2014/main" val="20003"/>
                    </a:ext>
                  </a:extLst>
                </a:gridCol>
              </a:tblGrid>
              <a:tr h="548640">
                <a:tc>
                  <a:txBody>
                    <a:bodyPr/>
                    <a:lstStyle/>
                    <a:p>
                      <a:pPr>
                        <a:defRPr sz="1400" b="1">
                          <a:solidFill>
                            <a:srgbClr val="FFFFFF"/>
                          </a:solidFill>
                        </a:defRPr>
                      </a:pPr>
                      <a:r>
                        <a:t>Security</a:t>
                      </a:r>
                    </a:p>
                  </a:txBody>
                  <a:tcPr>
                    <a:solidFill>
                      <a:srgbClr val="13233A"/>
                    </a:solidFill>
                  </a:tcPr>
                </a:tc>
                <a:tc>
                  <a:txBody>
                    <a:bodyPr/>
                    <a:lstStyle/>
                    <a:p>
                      <a:pPr>
                        <a:defRPr sz="1400" b="1">
                          <a:solidFill>
                            <a:srgbClr val="FFFFFF"/>
                          </a:solidFill>
                        </a:defRPr>
                      </a:pPr>
                      <a:r>
                        <a:t>Cumulative return</a:t>
                      </a:r>
                    </a:p>
                  </a:txBody>
                  <a:tcPr>
                    <a:solidFill>
                      <a:srgbClr val="13233A"/>
                    </a:solidFill>
                  </a:tcPr>
                </a:tc>
                <a:tc>
                  <a:txBody>
                    <a:bodyPr/>
                    <a:lstStyle/>
                    <a:p>
                      <a:pPr>
                        <a:defRPr sz="1400" b="1">
                          <a:solidFill>
                            <a:srgbClr val="FFFFFF"/>
                          </a:solidFill>
                        </a:defRPr>
                      </a:pPr>
                      <a:r>
                        <a:t>Annualized volatility</a:t>
                      </a:r>
                    </a:p>
                  </a:txBody>
                  <a:tcPr>
                    <a:solidFill>
                      <a:srgbClr val="13233A"/>
                    </a:solidFill>
                  </a:tcPr>
                </a:tc>
                <a:tc>
                  <a:txBody>
                    <a:bodyPr/>
                    <a:lstStyle/>
                    <a:p>
                      <a:pPr>
                        <a:defRPr sz="1400" b="1">
                          <a:solidFill>
                            <a:srgbClr val="FFFFFF"/>
                          </a:solidFill>
                        </a:defRPr>
                      </a:pPr>
                      <a:r>
                        <a:t>Maximum drawdown</a:t>
                      </a:r>
                    </a:p>
                  </a:txBody>
                  <a:tcPr>
                    <a:solidFill>
                      <a:srgbClr val="13233A"/>
                    </a:solidFill>
                  </a:tcPr>
                </a:tc>
                <a:extLst>
                  <a:ext uri="{0D108BD9-81ED-4DB2-BD59-A6C34878D82A}">
                    <a16:rowId xmlns:a16="http://schemas.microsoft.com/office/drawing/2014/main" val="10000"/>
                  </a:ext>
                </a:extLst>
              </a:tr>
              <a:tr h="548640">
                <a:tc>
                  <a:txBody>
                    <a:bodyPr/>
                    <a:lstStyle/>
                    <a:p>
                      <a:pPr>
                        <a:defRPr sz="1500" b="0">
                          <a:solidFill>
                            <a:srgbClr val="13233A"/>
                          </a:solidFill>
                        </a:defRPr>
                      </a:pPr>
                      <a:r>
                        <a:t>NVDA</a:t>
                      </a:r>
                    </a:p>
                  </a:txBody>
                  <a:tcPr>
                    <a:solidFill>
                      <a:srgbClr val="FFFFFF"/>
                    </a:solidFill>
                  </a:tcPr>
                </a:tc>
                <a:tc>
                  <a:txBody>
                    <a:bodyPr/>
                    <a:lstStyle/>
                    <a:p>
                      <a:pPr>
                        <a:defRPr sz="1500" b="0">
                          <a:solidFill>
                            <a:srgbClr val="13233A"/>
                          </a:solidFill>
                        </a:defRPr>
                      </a:pPr>
                      <a:r>
                        <a:t>1,326.20%</a:t>
                      </a:r>
                    </a:p>
                  </a:txBody>
                  <a:tcPr>
                    <a:solidFill>
                      <a:srgbClr val="FFFFFF"/>
                    </a:solidFill>
                  </a:tcPr>
                </a:tc>
                <a:tc>
                  <a:txBody>
                    <a:bodyPr/>
                    <a:lstStyle/>
                    <a:p>
                      <a:pPr>
                        <a:defRPr sz="1500" b="0">
                          <a:solidFill>
                            <a:srgbClr val="13233A"/>
                          </a:solidFill>
                        </a:defRPr>
                      </a:pPr>
                      <a:r>
                        <a:t>52.22%</a:t>
                      </a:r>
                    </a:p>
                  </a:txBody>
                  <a:tcPr>
                    <a:solidFill>
                      <a:srgbClr val="FFFFFF"/>
                    </a:solidFill>
                  </a:tcPr>
                </a:tc>
                <a:tc>
                  <a:txBody>
                    <a:bodyPr/>
                    <a:lstStyle/>
                    <a:p>
                      <a:pPr>
                        <a:defRPr sz="1500" b="0">
                          <a:solidFill>
                            <a:srgbClr val="13233A"/>
                          </a:solidFill>
                        </a:defRPr>
                      </a:pPr>
                      <a:r>
                        <a:t>−66.34%</a:t>
                      </a:r>
                    </a:p>
                  </a:txBody>
                  <a:tcPr>
                    <a:solidFill>
                      <a:srgbClr val="FFFFFF"/>
                    </a:solidFill>
                  </a:tcPr>
                </a:tc>
                <a:extLst>
                  <a:ext uri="{0D108BD9-81ED-4DB2-BD59-A6C34878D82A}">
                    <a16:rowId xmlns:a16="http://schemas.microsoft.com/office/drawing/2014/main" val="10001"/>
                  </a:ext>
                </a:extLst>
              </a:tr>
              <a:tr h="548640">
                <a:tc>
                  <a:txBody>
                    <a:bodyPr/>
                    <a:lstStyle/>
                    <a:p>
                      <a:pPr>
                        <a:defRPr sz="1500" b="0">
                          <a:solidFill>
                            <a:srgbClr val="13233A"/>
                          </a:solidFill>
                        </a:defRPr>
                      </a:pPr>
                      <a:r>
                        <a:t>AVGO</a:t>
                      </a:r>
                    </a:p>
                  </a:txBody>
                  <a:tcPr>
                    <a:solidFill>
                      <a:srgbClr val="EEF5F9"/>
                    </a:solidFill>
                  </a:tcPr>
                </a:tc>
                <a:tc>
                  <a:txBody>
                    <a:bodyPr/>
                    <a:lstStyle/>
                    <a:p>
                      <a:pPr>
                        <a:defRPr sz="1500" b="0">
                          <a:solidFill>
                            <a:srgbClr val="13233A"/>
                          </a:solidFill>
                        </a:defRPr>
                      </a:pPr>
                      <a:r>
                        <a:t>804.76%</a:t>
                      </a:r>
                    </a:p>
                  </a:txBody>
                  <a:tcPr>
                    <a:solidFill>
                      <a:srgbClr val="EEF5F9"/>
                    </a:solidFill>
                  </a:tcPr>
                </a:tc>
                <a:tc>
                  <a:txBody>
                    <a:bodyPr/>
                    <a:lstStyle/>
                    <a:p>
                      <a:pPr>
                        <a:defRPr sz="1500" b="0">
                          <a:solidFill>
                            <a:srgbClr val="13233A"/>
                          </a:solidFill>
                        </a:defRPr>
                      </a:pPr>
                      <a:r>
                        <a:t>42.31%</a:t>
                      </a:r>
                    </a:p>
                  </a:txBody>
                  <a:tcPr>
                    <a:solidFill>
                      <a:srgbClr val="EEF5F9"/>
                    </a:solidFill>
                  </a:tcPr>
                </a:tc>
                <a:tc>
                  <a:txBody>
                    <a:bodyPr/>
                    <a:lstStyle/>
                    <a:p>
                      <a:pPr>
                        <a:defRPr sz="1500" b="0">
                          <a:solidFill>
                            <a:srgbClr val="13233A"/>
                          </a:solidFill>
                        </a:defRPr>
                      </a:pPr>
                      <a:r>
                        <a:t>−41.15%</a:t>
                      </a:r>
                    </a:p>
                  </a:txBody>
                  <a:tcPr>
                    <a:solidFill>
                      <a:srgbClr val="EEF5F9"/>
                    </a:solidFill>
                  </a:tcPr>
                </a:tc>
                <a:extLst>
                  <a:ext uri="{0D108BD9-81ED-4DB2-BD59-A6C34878D82A}">
                    <a16:rowId xmlns:a16="http://schemas.microsoft.com/office/drawing/2014/main" val="10002"/>
                  </a:ext>
                </a:extLst>
              </a:tr>
              <a:tr h="548640">
                <a:tc>
                  <a:txBody>
                    <a:bodyPr/>
                    <a:lstStyle/>
                    <a:p>
                      <a:pPr>
                        <a:defRPr sz="1500" b="0">
                          <a:solidFill>
                            <a:srgbClr val="13233A"/>
                          </a:solidFill>
                        </a:defRPr>
                      </a:pPr>
                      <a:r>
                        <a:t>TSM</a:t>
                      </a:r>
                    </a:p>
                  </a:txBody>
                  <a:tcPr>
                    <a:solidFill>
                      <a:srgbClr val="FFFFFF"/>
                    </a:solidFill>
                  </a:tcPr>
                </a:tc>
                <a:tc>
                  <a:txBody>
                    <a:bodyPr/>
                    <a:lstStyle/>
                    <a:p>
                      <a:pPr>
                        <a:defRPr sz="1500" b="0">
                          <a:solidFill>
                            <a:srgbClr val="13233A"/>
                          </a:solidFill>
                        </a:defRPr>
                      </a:pPr>
                      <a:r>
                        <a:t>195.86%</a:t>
                      </a:r>
                    </a:p>
                  </a:txBody>
                  <a:tcPr>
                    <a:solidFill>
                      <a:srgbClr val="FFFFFF"/>
                    </a:solidFill>
                  </a:tcPr>
                </a:tc>
                <a:tc>
                  <a:txBody>
                    <a:bodyPr/>
                    <a:lstStyle/>
                    <a:p>
                      <a:pPr>
                        <a:defRPr sz="1500" b="0">
                          <a:solidFill>
                            <a:srgbClr val="13233A"/>
                          </a:solidFill>
                        </a:defRPr>
                      </a:pPr>
                      <a:r>
                        <a:t>37.37%</a:t>
                      </a:r>
                    </a:p>
                  </a:txBody>
                  <a:tcPr>
                    <a:solidFill>
                      <a:srgbClr val="FFFFFF"/>
                    </a:solidFill>
                  </a:tcPr>
                </a:tc>
                <a:tc>
                  <a:txBody>
                    <a:bodyPr/>
                    <a:lstStyle/>
                    <a:p>
                      <a:pPr>
                        <a:defRPr sz="1500" b="0">
                          <a:solidFill>
                            <a:srgbClr val="13233A"/>
                          </a:solidFill>
                        </a:defRPr>
                      </a:pPr>
                      <a:r>
                        <a:t>−56.47%</a:t>
                      </a:r>
                    </a:p>
                  </a:txBody>
                  <a:tcPr>
                    <a:solidFill>
                      <a:srgbClr val="FFFFFF"/>
                    </a:solidFill>
                  </a:tcPr>
                </a:tc>
                <a:extLst>
                  <a:ext uri="{0D108BD9-81ED-4DB2-BD59-A6C34878D82A}">
                    <a16:rowId xmlns:a16="http://schemas.microsoft.com/office/drawing/2014/main" val="10003"/>
                  </a:ext>
                </a:extLst>
              </a:tr>
              <a:tr h="548640">
                <a:tc>
                  <a:txBody>
                    <a:bodyPr/>
                    <a:lstStyle/>
                    <a:p>
                      <a:pPr>
                        <a:defRPr sz="1500" b="0">
                          <a:solidFill>
                            <a:srgbClr val="13233A"/>
                          </a:solidFill>
                        </a:defRPr>
                      </a:pPr>
                      <a:r>
                        <a:t>AMD</a:t>
                      </a:r>
                    </a:p>
                  </a:txBody>
                  <a:tcPr>
                    <a:solidFill>
                      <a:srgbClr val="EEF5F9"/>
                    </a:solidFill>
                  </a:tcPr>
                </a:tc>
                <a:tc>
                  <a:txBody>
                    <a:bodyPr/>
                    <a:lstStyle/>
                    <a:p>
                      <a:pPr>
                        <a:defRPr sz="1500" b="0">
                          <a:solidFill>
                            <a:srgbClr val="13233A"/>
                          </a:solidFill>
                        </a:defRPr>
                      </a:pPr>
                      <a:r>
                        <a:t>132.03%</a:t>
                      </a:r>
                    </a:p>
                  </a:txBody>
                  <a:tcPr>
                    <a:solidFill>
                      <a:srgbClr val="EEF5F9"/>
                    </a:solidFill>
                  </a:tcPr>
                </a:tc>
                <a:tc>
                  <a:txBody>
                    <a:bodyPr/>
                    <a:lstStyle/>
                    <a:p>
                      <a:pPr>
                        <a:defRPr sz="1500" b="0">
                          <a:solidFill>
                            <a:srgbClr val="13233A"/>
                          </a:solidFill>
                        </a:defRPr>
                      </a:pPr>
                      <a:r>
                        <a:t>52.41%</a:t>
                      </a:r>
                    </a:p>
                  </a:txBody>
                  <a:tcPr>
                    <a:solidFill>
                      <a:srgbClr val="EEF5F9"/>
                    </a:solidFill>
                  </a:tcPr>
                </a:tc>
                <a:tc>
                  <a:txBody>
                    <a:bodyPr/>
                    <a:lstStyle/>
                    <a:p>
                      <a:pPr>
                        <a:defRPr sz="1500" b="0">
                          <a:solidFill>
                            <a:srgbClr val="13233A"/>
                          </a:solidFill>
                        </a:defRPr>
                      </a:pPr>
                      <a:r>
                        <a:t>−65.45%</a:t>
                      </a:r>
                    </a:p>
                  </a:txBody>
                  <a:tcPr>
                    <a:solidFill>
                      <a:srgbClr val="EEF5F9"/>
                    </a:solidFill>
                  </a:tcPr>
                </a:tc>
                <a:extLst>
                  <a:ext uri="{0D108BD9-81ED-4DB2-BD59-A6C34878D82A}">
                    <a16:rowId xmlns:a16="http://schemas.microsoft.com/office/drawing/2014/main" val="10004"/>
                  </a:ext>
                </a:extLst>
              </a:tr>
              <a:tr h="548640">
                <a:tc>
                  <a:txBody>
                    <a:bodyPr/>
                    <a:lstStyle/>
                    <a:p>
                      <a:pPr>
                        <a:defRPr sz="1500" b="0">
                          <a:solidFill>
                            <a:srgbClr val="13233A"/>
                          </a:solidFill>
                        </a:defRPr>
                      </a:pPr>
                      <a:r>
                        <a:t>INTC</a:t>
                      </a:r>
                    </a:p>
                  </a:txBody>
                  <a:tcPr>
                    <a:solidFill>
                      <a:srgbClr val="FFFFFF"/>
                    </a:solidFill>
                  </a:tcPr>
                </a:tc>
                <a:tc>
                  <a:txBody>
                    <a:bodyPr/>
                    <a:lstStyle/>
                    <a:p>
                      <a:pPr>
                        <a:defRPr sz="1500" b="0">
                          <a:solidFill>
                            <a:srgbClr val="13233A"/>
                          </a:solidFill>
                        </a:defRPr>
                      </a:pPr>
                      <a:r>
                        <a:t>−17.82%</a:t>
                      </a:r>
                    </a:p>
                  </a:txBody>
                  <a:tcPr>
                    <a:solidFill>
                      <a:srgbClr val="FFFFFF"/>
                    </a:solidFill>
                  </a:tcPr>
                </a:tc>
                <a:tc>
                  <a:txBody>
                    <a:bodyPr/>
                    <a:lstStyle/>
                    <a:p>
                      <a:pPr>
                        <a:defRPr sz="1500" b="0">
                          <a:solidFill>
                            <a:srgbClr val="13233A"/>
                          </a:solidFill>
                        </a:defRPr>
                      </a:pPr>
                      <a:r>
                        <a:t>46.24%</a:t>
                      </a:r>
                    </a:p>
                  </a:txBody>
                  <a:tcPr>
                    <a:solidFill>
                      <a:srgbClr val="FFFFFF"/>
                    </a:solidFill>
                  </a:tcPr>
                </a:tc>
                <a:tc>
                  <a:txBody>
                    <a:bodyPr/>
                    <a:lstStyle/>
                    <a:p>
                      <a:pPr>
                        <a:defRPr sz="1500" b="0">
                          <a:solidFill>
                            <a:srgbClr val="13233A"/>
                          </a:solidFill>
                        </a:defRPr>
                      </a:pPr>
                      <a:r>
                        <a:t>−70.80%</a:t>
                      </a:r>
                    </a:p>
                  </a:txBody>
                  <a:tcPr>
                    <a:solidFill>
                      <a:srgbClr val="FFFFFF"/>
                    </a:solidFill>
                  </a:tcPr>
                </a:tc>
                <a:extLst>
                  <a:ext uri="{0D108BD9-81ED-4DB2-BD59-A6C34878D82A}">
                    <a16:rowId xmlns:a16="http://schemas.microsoft.com/office/drawing/2014/main" val="10005"/>
                  </a:ext>
                </a:extLst>
              </a:tr>
              <a:tr h="548640">
                <a:tc>
                  <a:txBody>
                    <a:bodyPr/>
                    <a:lstStyle/>
                    <a:p>
                      <a:pPr>
                        <a:defRPr sz="1500" b="0">
                          <a:solidFill>
                            <a:srgbClr val="13233A"/>
                          </a:solidFill>
                        </a:defRPr>
                      </a:pPr>
                      <a:r>
                        <a:t>SPY</a:t>
                      </a:r>
                    </a:p>
                  </a:txBody>
                  <a:tcPr>
                    <a:solidFill>
                      <a:srgbClr val="EEF5F9"/>
                    </a:solidFill>
                  </a:tcPr>
                </a:tc>
                <a:tc>
                  <a:txBody>
                    <a:bodyPr/>
                    <a:lstStyle/>
                    <a:p>
                      <a:pPr>
                        <a:defRPr sz="1500" b="0">
                          <a:solidFill>
                            <a:srgbClr val="13233A"/>
                          </a:solidFill>
                        </a:defRPr>
                      </a:pPr>
                      <a:r>
                        <a:t>98.08%</a:t>
                      </a:r>
                    </a:p>
                  </a:txBody>
                  <a:tcPr>
                    <a:solidFill>
                      <a:srgbClr val="EEF5F9"/>
                    </a:solidFill>
                  </a:tcPr>
                </a:tc>
                <a:tc>
                  <a:txBody>
                    <a:bodyPr/>
                    <a:lstStyle/>
                    <a:p>
                      <a:pPr>
                        <a:defRPr sz="1500" b="0">
                          <a:solidFill>
                            <a:srgbClr val="13233A"/>
                          </a:solidFill>
                        </a:defRPr>
                      </a:pPr>
                      <a:r>
                        <a:t>17.11%</a:t>
                      </a:r>
                    </a:p>
                  </a:txBody>
                  <a:tcPr>
                    <a:solidFill>
                      <a:srgbClr val="EEF5F9"/>
                    </a:solidFill>
                  </a:tcPr>
                </a:tc>
                <a:tc>
                  <a:txBody>
                    <a:bodyPr/>
                    <a:lstStyle/>
                    <a:p>
                      <a:pPr>
                        <a:defRPr sz="1500" b="0">
                          <a:solidFill>
                            <a:srgbClr val="13233A"/>
                          </a:solidFill>
                        </a:defRPr>
                      </a:pPr>
                      <a:r>
                        <a:t>−24.50%</a:t>
                      </a:r>
                    </a:p>
                  </a:txBody>
                  <a:tcPr>
                    <a:solidFill>
                      <a:srgbClr val="EEF5F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502920"/>
          </a:xfrm>
          <a:prstGeom prst="rect">
            <a:avLst/>
          </a:prstGeom>
          <a:noFill/>
        </p:spPr>
        <p:txBody>
          <a:bodyPr wrap="square">
            <a:spAutoFit/>
          </a:bodyPr>
          <a:lstStyle/>
          <a:p>
            <a:pPr>
              <a:spcAft>
                <a:spcPts val="900"/>
              </a:spcAft>
              <a:defRPr sz="2900" b="1">
                <a:solidFill>
                  <a:srgbClr val="13233A"/>
                </a:solidFill>
                <a:latin typeface="Aptos"/>
              </a:defRPr>
            </a:pPr>
            <a:r>
              <a:t>Validation, limitations, and risk</a:t>
            </a:r>
          </a:p>
        </p:txBody>
      </p:sp>
      <p:sp>
        <p:nvSpPr>
          <p:cNvPr id="4" name="Rounded Rectangle 3"/>
          <p:cNvSpPr/>
          <p:nvPr/>
        </p:nvSpPr>
        <p:spPr>
          <a:xfrm>
            <a:off x="9418320" y="6318504"/>
            <a:ext cx="2194560" cy="329184"/>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28048" y="6345936"/>
            <a:ext cx="2011680" cy="256032"/>
          </a:xfrm>
          <a:prstGeom prst="rect">
            <a:avLst/>
          </a:prstGeom>
          <a:noFill/>
        </p:spPr>
        <p:txBody>
          <a:bodyPr wrap="square">
            <a:spAutoFit/>
          </a:bodyPr>
          <a:lstStyle/>
          <a:p>
            <a:pPr>
              <a:spcAft>
                <a:spcPts val="900"/>
              </a:spcAft>
              <a:defRPr sz="1000" b="1">
                <a:solidFill>
                  <a:srgbClr val="225B90"/>
                </a:solidFill>
                <a:latin typeface="Aptos"/>
              </a:defRPr>
            </a:pPr>
            <a:r>
              <a:t>PRESENTER: COLEN</a:t>
            </a:r>
          </a:p>
        </p:txBody>
      </p:sp>
      <p:sp>
        <p:nvSpPr>
          <p:cNvPr id="6" name="TextBox 5"/>
          <p:cNvSpPr txBox="1"/>
          <p:nvPr/>
        </p:nvSpPr>
        <p:spPr>
          <a:xfrm>
            <a:off x="594360" y="6355080"/>
            <a:ext cx="6400800" cy="219456"/>
          </a:xfrm>
          <a:prstGeom prst="rect">
            <a:avLst/>
          </a:prstGeom>
          <a:noFill/>
        </p:spPr>
        <p:txBody>
          <a:bodyPr wrap="square">
            <a:spAutoFit/>
          </a:bodyPr>
          <a:lstStyle/>
          <a:p>
            <a:pPr>
              <a:spcAft>
                <a:spcPts val="900"/>
              </a:spcAft>
              <a:defRPr sz="900" b="0">
                <a:solidFill>
                  <a:srgbClr val="586979"/>
                </a:solidFill>
                <a:latin typeface="Aptos"/>
              </a:defRPr>
            </a:pPr>
            <a:r>
              <a:t>CIS480  •  Semiconductor Market Analysis  •  M08 Demo Day</a:t>
            </a:r>
          </a:p>
        </p:txBody>
      </p:sp>
      <p:sp>
        <p:nvSpPr>
          <p:cNvPr id="7" name="Oval 6"/>
          <p:cNvSpPr/>
          <p:nvPr/>
        </p:nvSpPr>
        <p:spPr>
          <a:xfrm>
            <a:off x="777240" y="1627631"/>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508760"/>
            <a:ext cx="10332719" cy="786384"/>
          </a:xfrm>
          <a:prstGeom prst="rect">
            <a:avLst/>
          </a:prstGeom>
          <a:noFill/>
        </p:spPr>
        <p:txBody>
          <a:bodyPr wrap="square">
            <a:spAutoFit/>
          </a:bodyPr>
          <a:lstStyle/>
          <a:p>
            <a:pPr>
              <a:spcAft>
                <a:spcPts val="900"/>
              </a:spcAft>
              <a:defRPr sz="1850" b="0">
                <a:solidFill>
                  <a:srgbClr val="13233A"/>
                </a:solidFill>
                <a:latin typeface="Aptos"/>
              </a:defRPr>
            </a:pPr>
            <a:r>
              <a:t>36 of 36 coordinator-reported Power BI KPI comparisons passed to two decimal places.</a:t>
            </a:r>
          </a:p>
        </p:txBody>
      </p:sp>
      <p:sp>
        <p:nvSpPr>
          <p:cNvPr id="9" name="Oval 8"/>
          <p:cNvSpPr/>
          <p:nvPr/>
        </p:nvSpPr>
        <p:spPr>
          <a:xfrm>
            <a:off x="777240" y="2459736"/>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340864"/>
            <a:ext cx="10332719" cy="786384"/>
          </a:xfrm>
          <a:prstGeom prst="rect">
            <a:avLst/>
          </a:prstGeom>
          <a:noFill/>
        </p:spPr>
        <p:txBody>
          <a:bodyPr wrap="square">
            <a:spAutoFit/>
          </a:bodyPr>
          <a:lstStyle/>
          <a:p>
            <a:pPr>
              <a:spcAft>
                <a:spcPts val="900"/>
              </a:spcAft>
              <a:defRPr sz="1850" b="0">
                <a:solidFill>
                  <a:srgbClr val="13233A"/>
                </a:solidFill>
                <a:latin typeface="Aptos"/>
              </a:defRPr>
            </a:pPr>
            <a:r>
              <a:t>Executed master notebook: 16 of 16 code cells saved as executed; no saved error outputs.</a:t>
            </a:r>
          </a:p>
        </p:txBody>
      </p:sp>
      <p:sp>
        <p:nvSpPr>
          <p:cNvPr id="11" name="Oval 10"/>
          <p:cNvSpPr/>
          <p:nvPr/>
        </p:nvSpPr>
        <p:spPr>
          <a:xfrm>
            <a:off x="777240" y="3291839"/>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172968"/>
            <a:ext cx="10332719" cy="786384"/>
          </a:xfrm>
          <a:prstGeom prst="rect">
            <a:avLst/>
          </a:prstGeom>
          <a:noFill/>
        </p:spPr>
        <p:txBody>
          <a:bodyPr wrap="square">
            <a:spAutoFit/>
          </a:bodyPr>
          <a:lstStyle/>
          <a:p>
            <a:pPr>
              <a:spcAft>
                <a:spcPts val="900"/>
              </a:spcAft>
              <a:defRPr sz="1850" b="0">
                <a:solidFill>
                  <a:srgbClr val="13233A"/>
                </a:solidFill>
                <a:latin typeface="Aptos"/>
              </a:defRPr>
            </a:pPr>
            <a:r>
              <a:t>Independent teammate testing and signed-out link checks remain pending until recorded.</a:t>
            </a:r>
          </a:p>
        </p:txBody>
      </p:sp>
      <p:sp>
        <p:nvSpPr>
          <p:cNvPr id="13" name="Oval 12"/>
          <p:cNvSpPr/>
          <p:nvPr/>
        </p:nvSpPr>
        <p:spPr>
          <a:xfrm>
            <a:off x="777240" y="4123944"/>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4005072"/>
            <a:ext cx="10332719" cy="786384"/>
          </a:xfrm>
          <a:prstGeom prst="rect">
            <a:avLst/>
          </a:prstGeom>
          <a:noFill/>
        </p:spPr>
        <p:txBody>
          <a:bodyPr wrap="square">
            <a:spAutoFit/>
          </a:bodyPr>
          <a:lstStyle/>
          <a:p>
            <a:pPr>
              <a:spcAft>
                <a:spcPts val="900"/>
              </a:spcAft>
              <a:defRPr sz="1850" b="0">
                <a:solidFill>
                  <a:srgbClr val="13233A"/>
                </a:solidFill>
                <a:latin typeface="Aptos"/>
              </a:defRPr>
            </a:pPr>
            <a:r>
              <a:t>Limits: historical window, selected stocks, broad-market SPY benchmark, and incomplete risk coverage.</a:t>
            </a:r>
          </a:p>
        </p:txBody>
      </p:sp>
      <p:sp>
        <p:nvSpPr>
          <p:cNvPr id="15" name="Oval 14"/>
          <p:cNvSpPr/>
          <p:nvPr/>
        </p:nvSpPr>
        <p:spPr>
          <a:xfrm>
            <a:off x="777240" y="4956048"/>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4837176"/>
            <a:ext cx="10332719" cy="786384"/>
          </a:xfrm>
          <a:prstGeom prst="rect">
            <a:avLst/>
          </a:prstGeom>
          <a:noFill/>
        </p:spPr>
        <p:txBody>
          <a:bodyPr wrap="square">
            <a:spAutoFit/>
          </a:bodyPr>
          <a:lstStyle/>
          <a:p>
            <a:pPr>
              <a:spcAft>
                <a:spcPts val="900"/>
              </a:spcAft>
              <a:defRPr sz="1850" b="0">
                <a:solidFill>
                  <a:srgbClr val="13233A"/>
                </a:solidFill>
                <a:latin typeface="Aptos"/>
              </a:defRPr>
            </a:pPr>
            <a:r>
              <a:t>No forecasting, investment recommendation, or measured real-world business impact is claimed.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502920"/>
          </a:xfrm>
          <a:prstGeom prst="rect">
            <a:avLst/>
          </a:prstGeom>
          <a:noFill/>
        </p:spPr>
        <p:txBody>
          <a:bodyPr wrap="square">
            <a:spAutoFit/>
          </a:bodyPr>
          <a:lstStyle/>
          <a:p>
            <a:pPr>
              <a:spcAft>
                <a:spcPts val="900"/>
              </a:spcAft>
              <a:defRPr sz="2900" b="1">
                <a:solidFill>
                  <a:srgbClr val="13233A"/>
                </a:solidFill>
                <a:latin typeface="Aptos"/>
              </a:defRPr>
            </a:pPr>
            <a:r>
              <a:t>Demo readiness, ownership, and handoff</a:t>
            </a:r>
          </a:p>
        </p:txBody>
      </p:sp>
      <p:sp>
        <p:nvSpPr>
          <p:cNvPr id="4" name="TextBox 3"/>
          <p:cNvSpPr txBox="1"/>
          <p:nvPr/>
        </p:nvSpPr>
        <p:spPr>
          <a:xfrm>
            <a:off x="594360" y="932688"/>
            <a:ext cx="10881360" cy="384048"/>
          </a:xfrm>
          <a:prstGeom prst="rect">
            <a:avLst/>
          </a:prstGeom>
          <a:noFill/>
        </p:spPr>
        <p:txBody>
          <a:bodyPr wrap="square">
            <a:spAutoFit/>
          </a:bodyPr>
          <a:lstStyle/>
          <a:p>
            <a:pPr>
              <a:spcAft>
                <a:spcPts val="900"/>
              </a:spcAft>
              <a:defRPr sz="1400" b="0">
                <a:solidFill>
                  <a:srgbClr val="586979"/>
                </a:solidFill>
                <a:latin typeface="Aptos"/>
              </a:defRPr>
            </a:pPr>
            <a:r>
              <a:t>Final readiness must be confirmed before submission</a:t>
            </a:r>
          </a:p>
        </p:txBody>
      </p:sp>
      <p:sp>
        <p:nvSpPr>
          <p:cNvPr id="5" name="Rounded Rectangle 4"/>
          <p:cNvSpPr/>
          <p:nvPr/>
        </p:nvSpPr>
        <p:spPr>
          <a:xfrm>
            <a:off x="9418320" y="6318504"/>
            <a:ext cx="2194560" cy="329184"/>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528048" y="6345936"/>
            <a:ext cx="2011680" cy="256032"/>
          </a:xfrm>
          <a:prstGeom prst="rect">
            <a:avLst/>
          </a:prstGeom>
          <a:noFill/>
        </p:spPr>
        <p:txBody>
          <a:bodyPr wrap="square">
            <a:spAutoFit/>
          </a:bodyPr>
          <a:lstStyle/>
          <a:p>
            <a:pPr>
              <a:spcAft>
                <a:spcPts val="900"/>
              </a:spcAft>
              <a:defRPr sz="1000" b="1">
                <a:solidFill>
                  <a:srgbClr val="225B90"/>
                </a:solidFill>
                <a:latin typeface="Aptos"/>
              </a:defRPr>
            </a:pPr>
            <a:r>
              <a:t>PRESENTER: TEAM</a:t>
            </a:r>
          </a:p>
        </p:txBody>
      </p:sp>
      <p:sp>
        <p:nvSpPr>
          <p:cNvPr id="7" name="TextBox 6"/>
          <p:cNvSpPr txBox="1"/>
          <p:nvPr/>
        </p:nvSpPr>
        <p:spPr>
          <a:xfrm>
            <a:off x="594360" y="6355080"/>
            <a:ext cx="6400800" cy="219456"/>
          </a:xfrm>
          <a:prstGeom prst="rect">
            <a:avLst/>
          </a:prstGeom>
          <a:noFill/>
        </p:spPr>
        <p:txBody>
          <a:bodyPr wrap="square">
            <a:spAutoFit/>
          </a:bodyPr>
          <a:lstStyle/>
          <a:p>
            <a:pPr>
              <a:spcAft>
                <a:spcPts val="900"/>
              </a:spcAft>
              <a:defRPr sz="900" b="0">
                <a:solidFill>
                  <a:srgbClr val="586979"/>
                </a:solidFill>
                <a:latin typeface="Aptos"/>
              </a:defRPr>
            </a:pPr>
            <a:r>
              <a:t>CIS480  •  Semiconductor Market Analysis  •  M08 Demo Day</a:t>
            </a:r>
          </a:p>
        </p:txBody>
      </p:sp>
      <p:sp>
        <p:nvSpPr>
          <p:cNvPr id="8" name="Oval 7"/>
          <p:cNvSpPr/>
          <p:nvPr/>
        </p:nvSpPr>
        <p:spPr>
          <a:xfrm>
            <a:off x="777240" y="1627631"/>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508760"/>
            <a:ext cx="10332719" cy="777240"/>
          </a:xfrm>
          <a:prstGeom prst="rect">
            <a:avLst/>
          </a:prstGeom>
          <a:noFill/>
        </p:spPr>
        <p:txBody>
          <a:bodyPr wrap="square">
            <a:spAutoFit/>
          </a:bodyPr>
          <a:lstStyle/>
          <a:p>
            <a:pPr>
              <a:spcAft>
                <a:spcPts val="900"/>
              </a:spcAft>
              <a:defRPr sz="1850" b="0">
                <a:solidFill>
                  <a:srgbClr val="13233A"/>
                </a:solidFill>
                <a:latin typeface="Aptos"/>
              </a:defRPr>
            </a:pPr>
            <a:r>
              <a:t>Luis: integrate report, dashboard demo, evidence, final commit and Canvas package.</a:t>
            </a:r>
          </a:p>
        </p:txBody>
      </p:sp>
      <p:sp>
        <p:nvSpPr>
          <p:cNvPr id="10" name="Oval 9"/>
          <p:cNvSpPr/>
          <p:nvPr/>
        </p:nvSpPr>
        <p:spPr>
          <a:xfrm>
            <a:off x="777240" y="2450591"/>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2331720"/>
            <a:ext cx="10332719" cy="777240"/>
          </a:xfrm>
          <a:prstGeom prst="rect">
            <a:avLst/>
          </a:prstGeom>
          <a:noFill/>
        </p:spPr>
        <p:txBody>
          <a:bodyPr wrap="square">
            <a:spAutoFit/>
          </a:bodyPr>
          <a:lstStyle/>
          <a:p>
            <a:pPr>
              <a:spcAft>
                <a:spcPts val="900"/>
              </a:spcAft>
              <a:defRPr sz="1850" b="0">
                <a:solidFill>
                  <a:srgbClr val="13233A"/>
                </a:solidFill>
                <a:latin typeface="Aptos"/>
              </a:defRPr>
            </a:pPr>
            <a:r>
              <a:t>Rey: independent notebook run, data/method review, and Python demo explanation.</a:t>
            </a:r>
          </a:p>
        </p:txBody>
      </p:sp>
      <p:sp>
        <p:nvSpPr>
          <p:cNvPr id="12" name="Oval 11"/>
          <p:cNvSpPr/>
          <p:nvPr/>
        </p:nvSpPr>
        <p:spPr>
          <a:xfrm>
            <a:off x="777240" y="3273552"/>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3154680"/>
            <a:ext cx="10332719" cy="777240"/>
          </a:xfrm>
          <a:prstGeom prst="rect">
            <a:avLst/>
          </a:prstGeom>
          <a:noFill/>
        </p:spPr>
        <p:txBody>
          <a:bodyPr wrap="square">
            <a:spAutoFit/>
          </a:bodyPr>
          <a:lstStyle/>
          <a:p>
            <a:pPr>
              <a:spcAft>
                <a:spcPts val="900"/>
              </a:spcAft>
              <a:defRPr sz="1850" b="0">
                <a:solidFill>
                  <a:srgbClr val="13233A"/>
                </a:solidFill>
                <a:latin typeface="Aptos"/>
              </a:defRPr>
            </a:pPr>
            <a:r>
              <a:t>Colen: independent Power BI test, KPI interpretation, and dashboard review.</a:t>
            </a:r>
          </a:p>
        </p:txBody>
      </p:sp>
      <p:sp>
        <p:nvSpPr>
          <p:cNvPr id="14" name="Oval 13"/>
          <p:cNvSpPr/>
          <p:nvPr/>
        </p:nvSpPr>
        <p:spPr>
          <a:xfrm>
            <a:off x="777240" y="4096511"/>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3977639"/>
            <a:ext cx="10332719" cy="777240"/>
          </a:xfrm>
          <a:prstGeom prst="rect">
            <a:avLst/>
          </a:prstGeom>
          <a:noFill/>
        </p:spPr>
        <p:txBody>
          <a:bodyPr wrap="square">
            <a:spAutoFit/>
          </a:bodyPr>
          <a:lstStyle/>
          <a:p>
            <a:pPr>
              <a:spcAft>
                <a:spcPts val="900"/>
              </a:spcAft>
              <a:defRPr sz="1850" b="0">
                <a:solidFill>
                  <a:srgbClr val="13233A"/>
                </a:solidFill>
                <a:latin typeface="Aptos"/>
              </a:defRPr>
            </a:pPr>
            <a:r>
              <a:t>All three: review final package, record individual contribution evidence, and prepare for questions.</a:t>
            </a:r>
          </a:p>
        </p:txBody>
      </p:sp>
      <p:sp>
        <p:nvSpPr>
          <p:cNvPr id="16" name="Oval 15"/>
          <p:cNvSpPr/>
          <p:nvPr/>
        </p:nvSpPr>
        <p:spPr>
          <a:xfrm>
            <a:off x="777240" y="4919472"/>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800600"/>
            <a:ext cx="10332719" cy="777240"/>
          </a:xfrm>
          <a:prstGeom prst="rect">
            <a:avLst/>
          </a:prstGeom>
          <a:noFill/>
        </p:spPr>
        <p:txBody>
          <a:bodyPr wrap="square">
            <a:spAutoFit/>
          </a:bodyPr>
          <a:lstStyle/>
          <a:p>
            <a:pPr>
              <a:spcAft>
                <a:spcPts val="900"/>
              </a:spcAft>
              <a:defRPr sz="1850" b="0">
                <a:solidFill>
                  <a:srgbClr val="13233A"/>
                </a:solidFill>
                <a:latin typeface="Aptos"/>
              </a:defRPr>
            </a:pPr>
            <a:r>
              <a:t>Still required: frozen commit/tag, backup recording or equivalent, security scan, and signed-out link check.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502920"/>
          </a:xfrm>
          <a:prstGeom prst="rect">
            <a:avLst/>
          </a:prstGeom>
          <a:noFill/>
        </p:spPr>
        <p:txBody>
          <a:bodyPr wrap="square">
            <a:spAutoFit/>
          </a:bodyPr>
          <a:lstStyle/>
          <a:p>
            <a:pPr>
              <a:spcAft>
                <a:spcPts val="900"/>
              </a:spcAft>
              <a:defRPr sz="2900" b="1">
                <a:solidFill>
                  <a:srgbClr val="13233A"/>
                </a:solidFill>
                <a:latin typeface="Aptos"/>
              </a:defRPr>
            </a:pPr>
            <a:r>
              <a:t>Conclusion, sources, and AI disclosure</a:t>
            </a:r>
          </a:p>
        </p:txBody>
      </p:sp>
      <p:sp>
        <p:nvSpPr>
          <p:cNvPr id="4" name="Rounded Rectangle 3"/>
          <p:cNvSpPr/>
          <p:nvPr/>
        </p:nvSpPr>
        <p:spPr>
          <a:xfrm>
            <a:off x="9418320" y="6318504"/>
            <a:ext cx="2194560" cy="329184"/>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28048" y="6345936"/>
            <a:ext cx="2011680" cy="256032"/>
          </a:xfrm>
          <a:prstGeom prst="rect">
            <a:avLst/>
          </a:prstGeom>
          <a:noFill/>
        </p:spPr>
        <p:txBody>
          <a:bodyPr wrap="square">
            <a:spAutoFit/>
          </a:bodyPr>
          <a:lstStyle/>
          <a:p>
            <a:pPr>
              <a:spcAft>
                <a:spcPts val="900"/>
              </a:spcAft>
              <a:defRPr sz="1000" b="1">
                <a:solidFill>
                  <a:srgbClr val="225B90"/>
                </a:solidFill>
                <a:latin typeface="Aptos"/>
              </a:defRPr>
            </a:pPr>
            <a:r>
              <a:t>PRESENTER: LUIS</a:t>
            </a:r>
          </a:p>
        </p:txBody>
      </p:sp>
      <p:sp>
        <p:nvSpPr>
          <p:cNvPr id="6" name="TextBox 5"/>
          <p:cNvSpPr txBox="1"/>
          <p:nvPr/>
        </p:nvSpPr>
        <p:spPr>
          <a:xfrm>
            <a:off x="594360" y="6355080"/>
            <a:ext cx="6400800" cy="219456"/>
          </a:xfrm>
          <a:prstGeom prst="rect">
            <a:avLst/>
          </a:prstGeom>
          <a:noFill/>
        </p:spPr>
        <p:txBody>
          <a:bodyPr wrap="square">
            <a:spAutoFit/>
          </a:bodyPr>
          <a:lstStyle/>
          <a:p>
            <a:pPr>
              <a:spcAft>
                <a:spcPts val="900"/>
              </a:spcAft>
              <a:defRPr sz="900" b="0">
                <a:solidFill>
                  <a:srgbClr val="586979"/>
                </a:solidFill>
                <a:latin typeface="Aptos"/>
              </a:defRPr>
            </a:pPr>
            <a:r>
              <a:t>CIS480  •  Semiconductor Market Analysis  •  M08 Demo Day</a:t>
            </a:r>
          </a:p>
        </p:txBody>
      </p:sp>
      <p:sp>
        <p:nvSpPr>
          <p:cNvPr id="7" name="Oval 6"/>
          <p:cNvSpPr/>
          <p:nvPr/>
        </p:nvSpPr>
        <p:spPr>
          <a:xfrm>
            <a:off x="777240" y="1627631"/>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508760"/>
            <a:ext cx="10332719" cy="777240"/>
          </a:xfrm>
          <a:prstGeom prst="rect">
            <a:avLst/>
          </a:prstGeom>
          <a:noFill/>
        </p:spPr>
        <p:txBody>
          <a:bodyPr wrap="square">
            <a:spAutoFit/>
          </a:bodyPr>
          <a:lstStyle/>
          <a:p>
            <a:pPr>
              <a:spcAft>
                <a:spcPts val="900"/>
              </a:spcAft>
              <a:defRPr sz="1900" b="0">
                <a:solidFill>
                  <a:srgbClr val="13233A"/>
                </a:solidFill>
                <a:latin typeface="Aptos"/>
              </a:defRPr>
            </a:pPr>
            <a:r>
              <a:t>Outcome: an inspectable historical comparison connecting Python calculations to Power BI visuals.</a:t>
            </a:r>
          </a:p>
        </p:txBody>
      </p:sp>
      <p:sp>
        <p:nvSpPr>
          <p:cNvPr id="9" name="Oval 8"/>
          <p:cNvSpPr/>
          <p:nvPr/>
        </p:nvSpPr>
        <p:spPr>
          <a:xfrm>
            <a:off x="777240" y="2450591"/>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331720"/>
            <a:ext cx="10332719" cy="777240"/>
          </a:xfrm>
          <a:prstGeom prst="rect">
            <a:avLst/>
          </a:prstGeom>
          <a:noFill/>
        </p:spPr>
        <p:txBody>
          <a:bodyPr wrap="square">
            <a:spAutoFit/>
          </a:bodyPr>
          <a:lstStyle/>
          <a:p>
            <a:pPr>
              <a:spcAft>
                <a:spcPts val="900"/>
              </a:spcAft>
              <a:defRPr sz="1900" b="0">
                <a:solidFill>
                  <a:srgbClr val="13233A"/>
                </a:solidFill>
                <a:latin typeface="Aptos"/>
              </a:defRPr>
            </a:pPr>
            <a:r>
              <a:t>Key lesson: strong historical returns must be evaluated together with volatility and drawdown.</a:t>
            </a:r>
          </a:p>
        </p:txBody>
      </p:sp>
      <p:sp>
        <p:nvSpPr>
          <p:cNvPr id="11" name="Oval 10"/>
          <p:cNvSpPr/>
          <p:nvPr/>
        </p:nvSpPr>
        <p:spPr>
          <a:xfrm>
            <a:off x="777240" y="3273552"/>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154680"/>
            <a:ext cx="10332719" cy="777240"/>
          </a:xfrm>
          <a:prstGeom prst="rect">
            <a:avLst/>
          </a:prstGeom>
          <a:noFill/>
        </p:spPr>
        <p:txBody>
          <a:bodyPr wrap="square">
            <a:spAutoFit/>
          </a:bodyPr>
          <a:lstStyle/>
          <a:p>
            <a:pPr>
              <a:spcAft>
                <a:spcPts val="900"/>
              </a:spcAft>
              <a:defRPr sz="1900" b="0">
                <a:solidFill>
                  <a:srgbClr val="13233A"/>
                </a:solidFill>
                <a:latin typeface="Aptos"/>
              </a:defRPr>
            </a:pPr>
            <a:r>
              <a:t>Next decision: complete independent reviews, freeze the approved demo, and submit the shared evidence package.</a:t>
            </a:r>
          </a:p>
        </p:txBody>
      </p:sp>
      <p:sp>
        <p:nvSpPr>
          <p:cNvPr id="13" name="TextBox 12"/>
          <p:cNvSpPr txBox="1"/>
          <p:nvPr/>
        </p:nvSpPr>
        <p:spPr>
          <a:xfrm>
            <a:off x="841248" y="4251960"/>
            <a:ext cx="10058400" cy="320040"/>
          </a:xfrm>
          <a:prstGeom prst="rect">
            <a:avLst/>
          </a:prstGeom>
          <a:noFill/>
        </p:spPr>
        <p:txBody>
          <a:bodyPr wrap="square">
            <a:spAutoFit/>
          </a:bodyPr>
          <a:lstStyle/>
          <a:p>
            <a:pPr>
              <a:spcAft>
                <a:spcPts val="900"/>
              </a:spcAft>
              <a:defRPr sz="1300" b="0">
                <a:solidFill>
                  <a:srgbClr val="225B90"/>
                </a:solidFill>
                <a:latin typeface="Aptos"/>
              </a:defRPr>
            </a:pPr>
            <a:r>
              <a:rPr>
                <a:hlinkClick r:id="rId3"/>
              </a:rPr>
              <a:t>Project repository and README</a:t>
            </a:r>
          </a:p>
        </p:txBody>
      </p:sp>
      <p:sp>
        <p:nvSpPr>
          <p:cNvPr id="14" name="TextBox 13"/>
          <p:cNvSpPr txBox="1"/>
          <p:nvPr/>
        </p:nvSpPr>
        <p:spPr>
          <a:xfrm>
            <a:off x="841248" y="4599432"/>
            <a:ext cx="10058400" cy="320040"/>
          </a:xfrm>
          <a:prstGeom prst="rect">
            <a:avLst/>
          </a:prstGeom>
          <a:noFill/>
        </p:spPr>
        <p:txBody>
          <a:bodyPr wrap="square">
            <a:spAutoFit/>
          </a:bodyPr>
          <a:lstStyle/>
          <a:p>
            <a:pPr>
              <a:spcAft>
                <a:spcPts val="900"/>
              </a:spcAft>
              <a:defRPr sz="1300" b="0">
                <a:solidFill>
                  <a:srgbClr val="225B90"/>
                </a:solidFill>
                <a:latin typeface="Aptos"/>
              </a:defRPr>
            </a:pPr>
            <a:r>
              <a:rPr>
                <a:hlinkClick r:id="rId4"/>
              </a:rPr>
              <a:t>Section 6 report and source links</a:t>
            </a:r>
          </a:p>
        </p:txBody>
      </p:sp>
      <p:sp>
        <p:nvSpPr>
          <p:cNvPr id="15" name="TextBox 14"/>
          <p:cNvSpPr txBox="1"/>
          <p:nvPr/>
        </p:nvSpPr>
        <p:spPr>
          <a:xfrm>
            <a:off x="841248" y="4946904"/>
            <a:ext cx="10058400" cy="320040"/>
          </a:xfrm>
          <a:prstGeom prst="rect">
            <a:avLst/>
          </a:prstGeom>
          <a:noFill/>
        </p:spPr>
        <p:txBody>
          <a:bodyPr wrap="square">
            <a:spAutoFit/>
          </a:bodyPr>
          <a:lstStyle/>
          <a:p>
            <a:pPr>
              <a:spcAft>
                <a:spcPts val="900"/>
              </a:spcAft>
              <a:defRPr sz="1300" b="0">
                <a:solidFill>
                  <a:srgbClr val="225B90"/>
                </a:solidFill>
                <a:latin typeface="Aptos"/>
              </a:defRPr>
            </a:pPr>
            <a:r>
              <a:rPr>
                <a:hlinkClick r:id="rId5"/>
              </a:rPr>
              <a:t>Dated validation record</a:t>
            </a:r>
          </a:p>
        </p:txBody>
      </p:sp>
      <p:sp>
        <p:nvSpPr>
          <p:cNvPr id="16" name="TextBox 15"/>
          <p:cNvSpPr txBox="1"/>
          <p:nvPr/>
        </p:nvSpPr>
        <p:spPr>
          <a:xfrm>
            <a:off x="841248" y="5394960"/>
            <a:ext cx="10332720" cy="502920"/>
          </a:xfrm>
          <a:prstGeom prst="rect">
            <a:avLst/>
          </a:prstGeom>
          <a:noFill/>
        </p:spPr>
        <p:txBody>
          <a:bodyPr wrap="square">
            <a:spAutoFit/>
          </a:bodyPr>
          <a:lstStyle/>
          <a:p>
            <a:pPr>
              <a:spcAft>
                <a:spcPts val="900"/>
              </a:spcAft>
              <a:defRPr sz="1200" b="0">
                <a:solidFill>
                  <a:srgbClr val="586979"/>
                </a:solidFill>
                <a:latin typeface="Aptos"/>
              </a:defRPr>
            </a:pPr>
            <a:r>
              <a:t>AI disclosure: ChatGPT assisted with drafting and organizing presentation text; project figures and claims were checked against saved project evidence. Team members must review and revise their own speaking sections.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502920"/>
          </a:xfrm>
          <a:prstGeom prst="rect">
            <a:avLst/>
          </a:prstGeom>
          <a:noFill/>
        </p:spPr>
        <p:txBody>
          <a:bodyPr wrap="square">
            <a:spAutoFit/>
          </a:bodyPr>
          <a:lstStyle/>
          <a:p>
            <a:pPr>
              <a:spcAft>
                <a:spcPts val="900"/>
              </a:spcAft>
              <a:defRPr sz="2900" b="1">
                <a:solidFill>
                  <a:srgbClr val="13233A"/>
                </a:solidFill>
                <a:latin typeface="Aptos"/>
              </a:defRPr>
            </a:pPr>
            <a:r>
              <a:t>Presenter assignments and preparation</a:t>
            </a:r>
          </a:p>
        </p:txBody>
      </p:sp>
      <p:sp>
        <p:nvSpPr>
          <p:cNvPr id="4" name="TextBox 3"/>
          <p:cNvSpPr txBox="1"/>
          <p:nvPr/>
        </p:nvSpPr>
        <p:spPr>
          <a:xfrm>
            <a:off x="594360" y="932688"/>
            <a:ext cx="10881360" cy="384048"/>
          </a:xfrm>
          <a:prstGeom prst="rect">
            <a:avLst/>
          </a:prstGeom>
          <a:noFill/>
        </p:spPr>
        <p:txBody>
          <a:bodyPr wrap="square">
            <a:spAutoFit/>
          </a:bodyPr>
          <a:lstStyle/>
          <a:p>
            <a:pPr>
              <a:spcAft>
                <a:spcPts val="900"/>
              </a:spcAft>
              <a:defRPr sz="1400" b="0">
                <a:solidFill>
                  <a:srgbClr val="586979"/>
                </a:solidFill>
                <a:latin typeface="Aptos"/>
              </a:defRPr>
            </a:pPr>
            <a:r>
              <a:t>Proposed assignments — confirm with Rey and Colen before recording or presenting</a:t>
            </a:r>
          </a:p>
        </p:txBody>
      </p:sp>
      <p:sp>
        <p:nvSpPr>
          <p:cNvPr id="5" name="Rounded Rectangle 4"/>
          <p:cNvSpPr/>
          <p:nvPr/>
        </p:nvSpPr>
        <p:spPr>
          <a:xfrm>
            <a:off x="9418320" y="6318504"/>
            <a:ext cx="2194560" cy="329184"/>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528048" y="6345936"/>
            <a:ext cx="2011680" cy="256032"/>
          </a:xfrm>
          <a:prstGeom prst="rect">
            <a:avLst/>
          </a:prstGeom>
          <a:noFill/>
        </p:spPr>
        <p:txBody>
          <a:bodyPr wrap="square">
            <a:spAutoFit/>
          </a:bodyPr>
          <a:lstStyle/>
          <a:p>
            <a:pPr>
              <a:spcAft>
                <a:spcPts val="900"/>
              </a:spcAft>
              <a:defRPr sz="1000" b="1">
                <a:solidFill>
                  <a:srgbClr val="225B90"/>
                </a:solidFill>
                <a:latin typeface="Aptos"/>
              </a:defRPr>
            </a:pPr>
            <a:r>
              <a:t>PRESENTER: TEAM</a:t>
            </a:r>
          </a:p>
        </p:txBody>
      </p:sp>
      <p:sp>
        <p:nvSpPr>
          <p:cNvPr id="7" name="TextBox 6"/>
          <p:cNvSpPr txBox="1"/>
          <p:nvPr/>
        </p:nvSpPr>
        <p:spPr>
          <a:xfrm>
            <a:off x="594360" y="6355080"/>
            <a:ext cx="6400800" cy="219456"/>
          </a:xfrm>
          <a:prstGeom prst="rect">
            <a:avLst/>
          </a:prstGeom>
          <a:noFill/>
        </p:spPr>
        <p:txBody>
          <a:bodyPr wrap="square">
            <a:spAutoFit/>
          </a:bodyPr>
          <a:lstStyle/>
          <a:p>
            <a:pPr>
              <a:spcAft>
                <a:spcPts val="900"/>
              </a:spcAft>
              <a:defRPr sz="900" b="0">
                <a:solidFill>
                  <a:srgbClr val="586979"/>
                </a:solidFill>
                <a:latin typeface="Aptos"/>
              </a:defRPr>
            </a:pPr>
            <a:r>
              <a:t>CIS480  •  Semiconductor Market Analysis  •  M08 Demo Day</a:t>
            </a:r>
          </a:p>
        </p:txBody>
      </p:sp>
      <p:sp>
        <p:nvSpPr>
          <p:cNvPr id="8" name="Oval 7"/>
          <p:cNvSpPr/>
          <p:nvPr/>
        </p:nvSpPr>
        <p:spPr>
          <a:xfrm>
            <a:off x="777240" y="1627631"/>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508760"/>
            <a:ext cx="10332719" cy="758952"/>
          </a:xfrm>
          <a:prstGeom prst="rect">
            <a:avLst/>
          </a:prstGeom>
          <a:noFill/>
        </p:spPr>
        <p:txBody>
          <a:bodyPr wrap="square">
            <a:spAutoFit/>
          </a:bodyPr>
          <a:lstStyle/>
          <a:p>
            <a:pPr>
              <a:spcAft>
                <a:spcPts val="900"/>
              </a:spcAft>
              <a:defRPr sz="1900" b="0">
                <a:solidFill>
                  <a:srgbClr val="13233A"/>
                </a:solidFill>
                <a:latin typeface="Aptos"/>
              </a:defRPr>
            </a:pPr>
            <a:r>
              <a:t>Luis: slides 1, 2, 6, 7, 10 — introduction, need, demo, findings, conclusion.</a:t>
            </a:r>
          </a:p>
        </p:txBody>
      </p:sp>
      <p:sp>
        <p:nvSpPr>
          <p:cNvPr id="10" name="Oval 9"/>
          <p:cNvSpPr/>
          <p:nvPr/>
        </p:nvSpPr>
        <p:spPr>
          <a:xfrm>
            <a:off x="777240" y="2432303"/>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2313432"/>
            <a:ext cx="10332719" cy="758952"/>
          </a:xfrm>
          <a:prstGeom prst="rect">
            <a:avLst/>
          </a:prstGeom>
          <a:noFill/>
        </p:spPr>
        <p:txBody>
          <a:bodyPr wrap="square">
            <a:spAutoFit/>
          </a:bodyPr>
          <a:lstStyle/>
          <a:p>
            <a:pPr>
              <a:spcAft>
                <a:spcPts val="900"/>
              </a:spcAft>
              <a:defRPr sz="1900" b="0">
                <a:solidFill>
                  <a:srgbClr val="13233A"/>
                </a:solidFill>
                <a:latin typeface="Aptos"/>
              </a:defRPr>
            </a:pPr>
            <a:r>
              <a:t>Rey: slides 3–4 — data scope, preparation, pipeline and reproducibility.</a:t>
            </a:r>
          </a:p>
        </p:txBody>
      </p:sp>
      <p:sp>
        <p:nvSpPr>
          <p:cNvPr id="12" name="Oval 11"/>
          <p:cNvSpPr/>
          <p:nvPr/>
        </p:nvSpPr>
        <p:spPr>
          <a:xfrm>
            <a:off x="777240" y="3236976"/>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3118104"/>
            <a:ext cx="10332719" cy="758952"/>
          </a:xfrm>
          <a:prstGeom prst="rect">
            <a:avLst/>
          </a:prstGeom>
          <a:noFill/>
        </p:spPr>
        <p:txBody>
          <a:bodyPr wrap="square">
            <a:spAutoFit/>
          </a:bodyPr>
          <a:lstStyle/>
          <a:p>
            <a:pPr>
              <a:spcAft>
                <a:spcPts val="900"/>
              </a:spcAft>
              <a:defRPr sz="1900" b="0">
                <a:solidFill>
                  <a:srgbClr val="13233A"/>
                </a:solidFill>
                <a:latin typeface="Aptos"/>
              </a:defRPr>
            </a:pPr>
            <a:r>
              <a:t>Colen: slides 5 and 8 — KPI definitions, validation, limitations and risk.</a:t>
            </a:r>
          </a:p>
        </p:txBody>
      </p:sp>
      <p:sp>
        <p:nvSpPr>
          <p:cNvPr id="14" name="Oval 13"/>
          <p:cNvSpPr/>
          <p:nvPr/>
        </p:nvSpPr>
        <p:spPr>
          <a:xfrm>
            <a:off x="777240" y="4041648"/>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3922776"/>
            <a:ext cx="10332719" cy="758952"/>
          </a:xfrm>
          <a:prstGeom prst="rect">
            <a:avLst/>
          </a:prstGeom>
          <a:noFill/>
        </p:spPr>
        <p:txBody>
          <a:bodyPr wrap="square">
            <a:spAutoFit/>
          </a:bodyPr>
          <a:lstStyle/>
          <a:p>
            <a:pPr>
              <a:spcAft>
                <a:spcPts val="900"/>
              </a:spcAft>
              <a:defRPr sz="1900" b="0">
                <a:solidFill>
                  <a:srgbClr val="13233A"/>
                </a:solidFill>
                <a:latin typeface="Aptos"/>
              </a:defRPr>
            </a:pPr>
            <a:r>
              <a:t>Shared: slide 9 — readiness, individual contribution evidence and handoff.</a:t>
            </a:r>
          </a:p>
        </p:txBody>
      </p:sp>
      <p:sp>
        <p:nvSpPr>
          <p:cNvPr id="16" name="Oval 15"/>
          <p:cNvSpPr/>
          <p:nvPr/>
        </p:nvSpPr>
        <p:spPr>
          <a:xfrm>
            <a:off x="777240" y="4846320"/>
            <a:ext cx="109728" cy="109728"/>
          </a:xfrm>
          <a:prstGeom prst="ellipse">
            <a:avLst/>
          </a:prstGeom>
          <a:solidFill>
            <a:srgbClr val="00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727448"/>
            <a:ext cx="10332719" cy="758952"/>
          </a:xfrm>
          <a:prstGeom prst="rect">
            <a:avLst/>
          </a:prstGeom>
          <a:noFill/>
        </p:spPr>
        <p:txBody>
          <a:bodyPr wrap="square">
            <a:spAutoFit/>
          </a:bodyPr>
          <a:lstStyle/>
          <a:p>
            <a:pPr>
              <a:spcAft>
                <a:spcPts val="900"/>
              </a:spcAft>
              <a:defRPr sz="1900" b="0">
                <a:solidFill>
                  <a:srgbClr val="13233A"/>
                </a:solidFill>
                <a:latin typeface="Aptos"/>
              </a:defRPr>
            </a:pPr>
            <a:r>
              <a:t>Each presenter: review speaker notes, verify their claims, and practice answering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2725</Words>
  <Application>Microsoft Office PowerPoint</Application>
  <PresentationFormat>Widescreen</PresentationFormat>
  <Paragraphs>156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Luis Miguel Ramirez</dc:creator>
  <cp:keywords/>
  <dc:description>generated using python-pptx</dc:description>
  <cp:lastModifiedBy>Luis Miguel Ramirez</cp:lastModifiedBy>
  <cp:revision>1</cp:revision>
  <dcterms:created xsi:type="dcterms:W3CDTF">2013-01-27T09:14:16Z</dcterms:created>
  <dcterms:modified xsi:type="dcterms:W3CDTF">2026-10-13T01:26:01Z</dcterms:modified>
  <cp:category/>
</cp:coreProperties>
</file>